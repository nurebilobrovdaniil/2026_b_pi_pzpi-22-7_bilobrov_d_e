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1" r:id="rId3"/>
    <p:sldId id="273" r:id="rId4"/>
    <p:sldId id="274" r:id="rId5"/>
    <p:sldId id="275" r:id="rId6"/>
    <p:sldId id="276" r:id="rId7"/>
    <p:sldId id="277" r:id="rId8"/>
    <p:sldId id="279" r:id="rId9"/>
    <p:sldId id="281" r:id="rId10"/>
    <p:sldId id="282" r:id="rId11"/>
    <p:sldId id="28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189" autoAdjust="0"/>
  </p:normalViewPr>
  <p:slideViewPr>
    <p:cSldViewPr snapToGrid="0" snapToObjects="1">
      <p:cViewPr varScale="1">
        <p:scale>
          <a:sx n="106" d="100"/>
          <a:sy n="106" d="100"/>
        </p:scale>
        <p:origin x="75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748C2-932F-49E5-B001-79E9C132175C}" type="datetimeFigureOut">
              <a:rPr lang="uk-UA" smtClean="0"/>
              <a:t>16.07.2026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473AB-99CD-4D1C-9FD4-6B36706DE5A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65275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73AB-99CD-4D1C-9FD4-6B36706DE5A8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55706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Актуальність роботи зумовлена тим, що власник автомобіля часто дізнається про технічну проблему вже після появи помітних симптомів. Крім того, телеметрія, попередження та сервісна інформація зазвичай існують окремо.</a:t>
            </a:r>
            <a:b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Під час аналізу було розглянуто FIXD,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Carly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Torque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Bouncie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Вони ефективні у своїх сценаріях, але переважно залежать від закритої екосистеми або конкретного обладнання.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Autonexis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запропоновано власний цілісний процес: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IoT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-рівень формує дані, сервер їх перевіряє і зберігає, порогова логіка визначає відхилення, а рольові інтерфейси підтримують подальші дії користувачів.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Виходячи з цієї проблеми, було сформульовано мету та основні завдання роботи.</a:t>
            </a:r>
            <a:endParaRPr lang="uk-UA" b="0" dirty="0">
              <a:effectLst/>
            </a:endParaRPr>
          </a:p>
          <a:p>
            <a:br>
              <a:rPr lang="uk-UA" dirty="0"/>
            </a:b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73AB-99CD-4D1C-9FD4-6B36706DE5A8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56397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Метою роботи було розробити систему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Autonexis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збирання телеметрії, оцінювання технічного стану автомобіля та підтримки сервісної взаємодії.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Об’єктом є процес моніторингу автомобіля на основі телеметричних даних. Предметом — архітектура системи, структура даних і алгоритми обробки.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досягнення мети було проаналізовано предметну область, сформовано вимоги, спроєктовано архітектуру та базу даних, реалізовано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веб-,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Android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та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IoT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-частини і проведено тестування.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Розглянемо, як ці завдання реалізовані в наскрізному шляху проходження даних.</a:t>
            </a:r>
            <a:endParaRPr lang="uk-UA" b="0" dirty="0">
              <a:effectLst/>
            </a:endParaRPr>
          </a:p>
          <a:p>
            <a:br>
              <a:rPr lang="uk-UA" dirty="0"/>
            </a:b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73AB-99CD-4D1C-9FD4-6B36706DE5A8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80095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Основний шлях даних показано на цьому слайді. ESP32 у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Wokwi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моделює датчики автомобіля та передає телеметрію через MQTT-брокер.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перевіряє повідомлення, визначає пристрій і автомобіль, зберігає вимірювання в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виконує оцінювання.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 REST API результати отримують веб- і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Android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-застосунки. У підсумку користувач бачить не лише числа, а загальний стан автомобіля, попередження, сповіщення та можливість перейти до сервісної заявки.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Взаємодія із цими результатами залежить від ролі користувача.</a:t>
            </a:r>
            <a:endParaRPr lang="uk-UA" b="0" dirty="0">
              <a:effectLst/>
            </a:endParaRPr>
          </a:p>
          <a:p>
            <a:br>
              <a:rPr lang="uk-UA" dirty="0"/>
            </a:br>
            <a:br>
              <a:rPr lang="uk-UA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слайді наведено UML-діаграми прецедентів для трьох основних ролей.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Власник автомобіля працює через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Android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-застосунок: реєструється або входить, активує автомобіль за кодом чи QR-кодом, переглядає власні автомобілі, поточний стан, телеметрію, попередження, сповіщення, сервісні заявки та історію обслуговування.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Технічний спеціаліст використовує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вебзастосунок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має доступ лише до призначених автомобілів. Він аналізує детальну телеметрію, графіки та попередження, опрацьовує сервісні заявки й створює записи про виконані роботи.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Адміністратор організовує підключення автомобіля та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IoT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-пристрою, створює облікові записи спеціалістів, задає їхні компетенції, виконує призначення, працює із сервісними заявками та переглядає журнал аудиту.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Допоміжні дії на діаграмах показані через відношення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extend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серверна частина додатково контролює права доступу до ресурсів.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Такий поділ дає власнику простий щоденний інтерфейс, спеціалісту — детальні технічні дані, а адміністратору — засоби організації системи, без змішування відповідальності між ролями.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 перейду від користувацьких сценаріїв до внутрішньої архітектури системи.</a:t>
            </a:r>
            <a:endParaRPr lang="uk-UA" b="0" dirty="0">
              <a:effectLst/>
            </a:endParaRPr>
          </a:p>
          <a:p>
            <a:br>
              <a:rPr lang="uk-UA" dirty="0"/>
            </a:br>
            <a:br>
              <a:rPr lang="uk-UA" dirty="0"/>
            </a:br>
            <a:br>
              <a:rPr lang="uk-UA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Архітектуру серверної частини побудовано як модульний моноліт. Це означає, що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розгортається одним застосунком, але всередині поділений на окремі модулі: автентифікацію та користувачів, автомобілі й пристрої, телеметрію та пороги,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alerts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notifications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сервісні сценарії та аудит.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Такий підхід обрано як компроміс між простим монолітом і складнішою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мікросервісною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інфраструктурою: він спрощує локальне розгортання, але зберігає зрозуміле розділення відповідальності.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системі є два канали взаємодії. MQTT використовується для асинхронного передавання телеметрії від ESP32 або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Wokwi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REST API — для запитів веб- та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Android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-клієнтів.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забезпечує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транзакційне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зберігання даних, а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OAuth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виступає зовнішнім провайдером ідентифікації.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 API може працювати незалежно від тимчасової недоступності MQTT-брокера, тоді як MQTT-споживач повторює підключення у фоновому режимі.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рівні коду HTTP-обробники, сервіси та репозиторії також розділені: обробник приймає запит, сервіс виконує бізнес-правила, а репозиторій ізолює SQL-доступ. Це спрощує тестування й супровід системи.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підтримки цих модулів було спроєктовано реляційну модель даних.</a:t>
            </a:r>
            <a:br>
              <a:rPr lang="uk-UA" dirty="0"/>
            </a:br>
            <a:endParaRPr lang="uk-UA" b="0" dirty="0">
              <a:effectLst/>
            </a:endParaRPr>
          </a:p>
          <a:p>
            <a:br>
              <a:rPr lang="uk-UA" dirty="0"/>
            </a:b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73AB-99CD-4D1C-9FD4-6B36706DE5A8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62131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слайді показано актуальну фізичну ER-модель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поділену на два фрагменти для читабельності.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лівій частині розміщено ролі, користувачів,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OAuth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-акаунти, автомобілі,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IoT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-пристрої, коди активації, журнал аудиту, компетенції та призначення спеціалістів.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Наприклад, зв’язок між спеціалістами й автомобілями типу багато-до-багатьох реалізовано через таблицю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vehicle_specialist_assignments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одноразові коди зберігаються у вигляді хешу.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Права частина відображає основний інформаційний потік: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vehicles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devices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пов’язані з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telemetry_records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порогові налаштування використовуються для оцінювання,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alerts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зберігають життєвий цикл інциденту,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notifications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інформують користувача, а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vehicle_service_requests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maintenance_records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підтримують сервісний процес.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основних бізнес-сутностей застосовано UUID, а для великих послідовних таблиць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telemetry_records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audit_logs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BIGINT. Цілісність забезпечують зовнішні ключі, UNIQUE і CHECK-обмеження, а для часових вибірок телеметрії та активних подій передбачені індекси.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telemetry_records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одночасно зберігаються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vehicle_id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device_id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Це є контрольованою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денормалізацією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частих часових запитів за автомобілем без зайвого JOIN, а узгодженість забезпечується серверною логікою під час приймання повідомлення.</a:t>
            </a:r>
            <a:endParaRPr lang="uk-UA" b="0" dirty="0">
              <a:effectLst/>
            </a:endParaRPr>
          </a:p>
          <a:p>
            <a:br>
              <a:rPr lang="uk-UA" dirty="0"/>
            </a:br>
            <a:br>
              <a:rPr lang="uk-UA" dirty="0"/>
            </a:b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73AB-99CD-4D1C-9FD4-6B36706DE5A8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55468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Вебзастосунок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реалізовано на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TypeScript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Для адміністратора доступні створення спеціалістів, їхні компетенції, підключення автомобілів і пристроїв, призначення та аудит.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Технічний спеціаліст працює з призначеними автомобілями, переглядає історію телеметрії у вигляді графіків, аналізує попередження та опрацьовує сервісні заявки.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Клієнтський інтерфейс показує доступні дії, але перевірка ролі, активності користувача і права працювати з конкретним ресурсом виконується серверною частиною.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власника автомобіля реалізовано окремий мобільний інтерфейс.</a:t>
            </a:r>
            <a:endParaRPr lang="uk-UA" b="0" dirty="0">
              <a:effectLst/>
            </a:endParaRPr>
          </a:p>
          <a:p>
            <a:br>
              <a:rPr lang="uk-UA" dirty="0"/>
            </a:br>
            <a:br>
              <a:rPr lang="uk-UA" dirty="0"/>
            </a:br>
            <a:br>
              <a:rPr lang="uk-UA" dirty="0"/>
            </a:b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73AB-99CD-4D1C-9FD4-6B36706DE5A8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17519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слайді наведено фрагмент реалізації життєвого циклу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ApplyEvaluation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шукає незавершений інцидент за автомобілем і типом параметра. Якщо проблема повторилася після стабілізації,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відкривається повторно; якщо критичність зросла —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ескалюється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інакше наявний запис оновлюється.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ApplyRecovery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збільшує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recovery_streak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послідовних нормальних вимірювань. Після досягнення заданої кількості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переходить у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cleared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при новому відхиленні лічильник скидається.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Операції виконуються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транзакційно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тому проблема зберігається як один життєвий цикл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cleared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resolved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не як набір дублікатів.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Коректність і стабільність цих сценаріїв було перевірено автоматизованими та навантажувальними тестами.</a:t>
            </a:r>
            <a:endParaRPr lang="uk-UA" b="0" dirty="0">
              <a:effectLst/>
            </a:endParaRPr>
          </a:p>
          <a:p>
            <a:br>
              <a:rPr lang="uk-UA" dirty="0"/>
            </a:b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73AB-99CD-4D1C-9FD4-6B36706DE5A8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8175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перевірки MQTT-рівня було оброблено 10 тисяч повідомлень від 50 віртуальних пристроїв із різними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device_uid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без помилок.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 API тестувався за допомогою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Locust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із 50 віртуальними користувачами. За 59 секунд виконано 4 тисячі 818 запитів, середній час відповіді становив 5,19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мілісекунди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середня інтенсивність — 80,97 запитів за секунду. Невдалих запитів у контрольованому прогоні не зафіксовано.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Ці результати підтверджують стабільність локального контрольованого середовища, але не є твердженням про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production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-готовність.</a:t>
            </a:r>
            <a:endParaRPr lang="uk-UA" b="0" dirty="0">
              <a:effectLst/>
            </a:endParaRPr>
          </a:p>
          <a:p>
            <a:br>
              <a:rPr lang="uk-UA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результаті створено цілісну систему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Autonexis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яка охоплює шлях від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IoT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-телеметрії до зрозумілого стану автомобіля, попередження та сервісної дії.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Реалізовано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MQTT-споживач,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вебзастосунок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Android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-застосунок і демонстраційний ESP32/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Wokwi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-рівень. Окрему увагу приділено рольовому доступу, історії вимірювань і життєвому циклу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alerts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Подальший розвиток передбачає реальну інтеграцію з OBD-II або CAN,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production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-розгортання, зовнішні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-сповіщення та розширену аналітику.</a:t>
            </a:r>
            <a:endParaRPr lang="uk-UA" b="0" dirty="0">
              <a:effectLst/>
            </a:endParaRPr>
          </a:p>
          <a:p>
            <a:pPr rtl="0"/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Дякую за увагу. Готовий перейти до демонстрації наскрізного бізнес-сценарію </a:t>
            </a:r>
            <a:r>
              <a:rPr lang="uk-UA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Autonexis</a:t>
            </a:r>
            <a:r>
              <a:rPr lang="uk-U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uk-UA" b="0" dirty="0">
              <a:effectLst/>
            </a:endParaRPr>
          </a:p>
          <a:p>
            <a:br>
              <a:rPr lang="uk-UA" dirty="0"/>
            </a:b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73AB-99CD-4D1C-9FD4-6B36706DE5A8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75022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3093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e_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74720" y="206054"/>
            <a:ext cx="5212080" cy="69871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1" dirty="0" err="1">
                <a:solidFill>
                  <a:srgbClr val="1F2933"/>
                </a:solidFill>
                <a:latin typeface="Arial"/>
              </a:rPr>
              <a:t>Міністерство</a:t>
            </a:r>
            <a:r>
              <a:rPr sz="1400" b="1" dirty="0">
                <a:solidFill>
                  <a:srgbClr val="1F2933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F2933"/>
                </a:solidFill>
                <a:latin typeface="Arial"/>
              </a:rPr>
              <a:t>освіти</a:t>
            </a:r>
            <a:r>
              <a:rPr sz="1400" b="1" dirty="0">
                <a:solidFill>
                  <a:srgbClr val="1F2933"/>
                </a:solidFill>
                <a:latin typeface="Arial"/>
              </a:rPr>
              <a:t> і </a:t>
            </a:r>
            <a:r>
              <a:rPr sz="1400" b="1" dirty="0" err="1">
                <a:solidFill>
                  <a:srgbClr val="1F2933"/>
                </a:solidFill>
                <a:latin typeface="Arial"/>
              </a:rPr>
              <a:t>науки</a:t>
            </a:r>
            <a:r>
              <a:rPr sz="1400" b="1" dirty="0">
                <a:solidFill>
                  <a:srgbClr val="1F2933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F2933"/>
                </a:solidFill>
                <a:latin typeface="Arial"/>
              </a:rPr>
              <a:t>України</a:t>
            </a:r>
            <a:r>
              <a:rPr sz="1400" b="1" dirty="0">
                <a:solidFill>
                  <a:srgbClr val="1F2933"/>
                </a:solidFill>
                <a:latin typeface="Arial"/>
              </a:rPr>
              <a:t>
</a:t>
            </a:r>
            <a:r>
              <a:rPr sz="1400" b="1" dirty="0" err="1">
                <a:solidFill>
                  <a:srgbClr val="1F2933"/>
                </a:solidFill>
                <a:latin typeface="Arial"/>
              </a:rPr>
              <a:t>Харківський</a:t>
            </a:r>
            <a:r>
              <a:rPr sz="1400" b="1" dirty="0">
                <a:solidFill>
                  <a:srgbClr val="1F2933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F2933"/>
                </a:solidFill>
                <a:latin typeface="Arial"/>
              </a:rPr>
              <a:t>національний</a:t>
            </a:r>
            <a:r>
              <a:rPr sz="1400" b="1" dirty="0">
                <a:solidFill>
                  <a:srgbClr val="1F2933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F2933"/>
                </a:solidFill>
                <a:latin typeface="Arial"/>
              </a:rPr>
              <a:t>університет</a:t>
            </a:r>
            <a:r>
              <a:rPr sz="1400" b="1" dirty="0">
                <a:solidFill>
                  <a:srgbClr val="1F2933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1F2933"/>
                </a:solidFill>
                <a:latin typeface="Arial"/>
              </a:rPr>
              <a:t>радіоелектроніки</a:t>
            </a:r>
            <a:endParaRPr sz="1400" b="1" dirty="0">
              <a:solidFill>
                <a:srgbClr val="1F2933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106984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400" b="1" dirty="0" err="1">
                <a:solidFill>
                  <a:srgbClr val="1F2933"/>
                </a:solidFill>
                <a:latin typeface="Arial"/>
              </a:rPr>
              <a:t>Кваліфікаційна</a:t>
            </a:r>
            <a:r>
              <a:rPr sz="2400" b="1" dirty="0">
                <a:solidFill>
                  <a:srgbClr val="1F2933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1F2933"/>
                </a:solidFill>
                <a:latin typeface="Arial"/>
              </a:rPr>
              <a:t>робота</a:t>
            </a:r>
            <a:r>
              <a:rPr sz="2400" b="1" dirty="0">
                <a:solidFill>
                  <a:srgbClr val="1F2933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1F2933"/>
                </a:solidFill>
                <a:latin typeface="Arial"/>
              </a:rPr>
              <a:t>бакалавра</a:t>
            </a:r>
            <a:endParaRPr sz="2400" b="1" dirty="0">
              <a:solidFill>
                <a:srgbClr val="1F2933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8880" y="2331720"/>
            <a:ext cx="7223760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uk-UA" sz="1600" b="0" dirty="0">
                <a:solidFill>
                  <a:srgbClr val="2F343A"/>
                </a:solidFill>
                <a:latin typeface="Arial"/>
              </a:rPr>
              <a:t>Онлайн-помічник для фізіотерапевта</a:t>
            </a:r>
            <a:endParaRPr sz="1600" b="0" dirty="0">
              <a:solidFill>
                <a:srgbClr val="2F343A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3593592"/>
            <a:ext cx="11201400" cy="10972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31720" y="4480560"/>
            <a:ext cx="2286000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 dirty="0" err="1">
                <a:solidFill>
                  <a:srgbClr val="1F2933"/>
                </a:solidFill>
                <a:latin typeface="Arial"/>
              </a:rPr>
              <a:t>Виконав</a:t>
            </a:r>
            <a:r>
              <a:rPr sz="1600" b="1" dirty="0">
                <a:solidFill>
                  <a:srgbClr val="1F2933"/>
                </a:solidFill>
                <a:latin typeface="Arial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4846320"/>
            <a:ext cx="2286000" cy="5847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0" dirty="0" err="1">
                <a:solidFill>
                  <a:srgbClr val="1F2933"/>
                </a:solidFill>
                <a:latin typeface="Arial"/>
              </a:rPr>
              <a:t>ст</a:t>
            </a:r>
            <a:r>
              <a:rPr sz="1600" b="0" dirty="0">
                <a:solidFill>
                  <a:srgbClr val="1F2933"/>
                </a:solidFill>
                <a:latin typeface="Arial"/>
              </a:rPr>
              <a:t>. </a:t>
            </a:r>
            <a:r>
              <a:rPr sz="1600" b="0" dirty="0" err="1">
                <a:solidFill>
                  <a:srgbClr val="1F2933"/>
                </a:solidFill>
                <a:latin typeface="Arial"/>
              </a:rPr>
              <a:t>гр</a:t>
            </a:r>
            <a:r>
              <a:rPr sz="1600" b="0" dirty="0">
                <a:solidFill>
                  <a:srgbClr val="1F2933"/>
                </a:solidFill>
                <a:latin typeface="Arial"/>
              </a:rPr>
              <a:t>. ПЗПІ-22-</a:t>
            </a:r>
            <a:r>
              <a:rPr lang="uk-UA" sz="1600" b="0" dirty="0">
                <a:solidFill>
                  <a:srgbClr val="1F2933"/>
                </a:solidFill>
                <a:latin typeface="Arial"/>
              </a:rPr>
              <a:t>7</a:t>
            </a:r>
            <a:r>
              <a:rPr sz="1600" b="0" dirty="0">
                <a:solidFill>
                  <a:srgbClr val="1F2933"/>
                </a:solidFill>
                <a:latin typeface="Arial"/>
              </a:rPr>
              <a:t>
</a:t>
            </a:r>
            <a:r>
              <a:rPr lang="uk-UA" sz="1600" b="0" dirty="0" err="1">
                <a:solidFill>
                  <a:srgbClr val="1F2933"/>
                </a:solidFill>
                <a:latin typeface="Arial"/>
              </a:rPr>
              <a:t>Білобров</a:t>
            </a:r>
            <a:r>
              <a:rPr sz="1600" b="0" dirty="0">
                <a:solidFill>
                  <a:srgbClr val="1F2933"/>
                </a:solidFill>
                <a:latin typeface="Arial"/>
              </a:rPr>
              <a:t> </a:t>
            </a:r>
            <a:r>
              <a:rPr lang="uk-UA" sz="1600" b="0" dirty="0">
                <a:solidFill>
                  <a:srgbClr val="1F2933"/>
                </a:solidFill>
                <a:latin typeface="Arial"/>
              </a:rPr>
              <a:t>Д</a:t>
            </a:r>
            <a:r>
              <a:rPr sz="1600" b="0" dirty="0">
                <a:solidFill>
                  <a:srgbClr val="1F2933"/>
                </a:solidFill>
                <a:latin typeface="Arial"/>
              </a:rPr>
              <a:t>. </a:t>
            </a:r>
            <a:r>
              <a:rPr lang="uk-UA" sz="1600" b="0" dirty="0">
                <a:solidFill>
                  <a:srgbClr val="1F2933"/>
                </a:solidFill>
                <a:latin typeface="Arial"/>
              </a:rPr>
              <a:t>Є</a:t>
            </a:r>
            <a:r>
              <a:rPr sz="1600" b="0" dirty="0">
                <a:solidFill>
                  <a:srgbClr val="1F2933"/>
                </a:solidFill>
                <a:latin typeface="Arial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480560"/>
            <a:ext cx="2468880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 dirty="0" err="1">
                <a:solidFill>
                  <a:srgbClr val="1F2933"/>
                </a:solidFill>
                <a:latin typeface="Arial"/>
              </a:rPr>
              <a:t>Науковий</a:t>
            </a:r>
            <a:r>
              <a:rPr sz="1600" b="1" dirty="0">
                <a:solidFill>
                  <a:srgbClr val="1F2933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F2933"/>
                </a:solidFill>
                <a:latin typeface="Arial"/>
              </a:rPr>
              <a:t>керівник</a:t>
            </a:r>
            <a:r>
              <a:rPr sz="1600" b="1" dirty="0">
                <a:solidFill>
                  <a:srgbClr val="1F2933"/>
                </a:solidFill>
                <a:latin typeface="Arial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846320"/>
            <a:ext cx="2651760" cy="5847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uk-UA" sz="1600" dirty="0" err="1">
                <a:solidFill>
                  <a:srgbClr val="1F2933"/>
                </a:solidFill>
                <a:latin typeface="Arial"/>
              </a:rPr>
              <a:t>ст</a:t>
            </a:r>
            <a:r>
              <a:rPr sz="1600" b="0" dirty="0">
                <a:solidFill>
                  <a:srgbClr val="1F2933"/>
                </a:solidFill>
                <a:latin typeface="Arial"/>
              </a:rPr>
              <a:t>. </a:t>
            </a:r>
            <a:r>
              <a:rPr lang="uk-UA" sz="1600" b="0" dirty="0" err="1">
                <a:solidFill>
                  <a:srgbClr val="1F2933"/>
                </a:solidFill>
                <a:latin typeface="Arial"/>
              </a:rPr>
              <a:t>вик</a:t>
            </a:r>
            <a:r>
              <a:rPr sz="1600" b="0" dirty="0">
                <a:solidFill>
                  <a:srgbClr val="1F2933"/>
                </a:solidFill>
                <a:latin typeface="Arial"/>
              </a:rPr>
              <a:t>. ПІ
</a:t>
            </a:r>
            <a:r>
              <a:rPr lang="uk-UA" sz="1600" b="0" dirty="0" err="1">
                <a:solidFill>
                  <a:srgbClr val="1F2933"/>
                </a:solidFill>
                <a:latin typeface="Arial"/>
              </a:rPr>
              <a:t>Агекян</a:t>
            </a:r>
            <a:r>
              <a:rPr sz="1600" b="0" dirty="0">
                <a:solidFill>
                  <a:srgbClr val="1F2933"/>
                </a:solidFill>
                <a:latin typeface="Arial"/>
              </a:rPr>
              <a:t> </a:t>
            </a:r>
            <a:r>
              <a:rPr lang="uk-UA" sz="1600" b="0" dirty="0">
                <a:solidFill>
                  <a:srgbClr val="1F2933"/>
                </a:solidFill>
                <a:latin typeface="Arial"/>
              </a:rPr>
              <a:t>І</a:t>
            </a:r>
            <a:r>
              <a:rPr sz="1600" b="0" dirty="0">
                <a:solidFill>
                  <a:srgbClr val="1F2933"/>
                </a:solidFill>
                <a:latin typeface="Arial"/>
              </a:rPr>
              <a:t>. </a:t>
            </a:r>
            <a:r>
              <a:rPr lang="uk-UA" sz="1600" dirty="0">
                <a:solidFill>
                  <a:srgbClr val="1F2933"/>
                </a:solidFill>
                <a:latin typeface="Arial"/>
              </a:rPr>
              <a:t>А</a:t>
            </a:r>
            <a:r>
              <a:rPr sz="1600" b="0" dirty="0">
                <a:solidFill>
                  <a:srgbClr val="1F2933"/>
                </a:solidFill>
                <a:latin typeface="Arial"/>
              </a:rPr>
              <a:t>.</a:t>
            </a:r>
          </a:p>
        </p:txBody>
      </p:sp>
      <p:sp>
        <p:nvSpPr>
          <p:cNvPr id="22" name="Oval 4">
            <a:extLst>
              <a:ext uri="{FF2B5EF4-FFF2-40B4-BE49-F238E27FC236}">
                <a16:creationId xmlns:a16="http://schemas.microsoft.com/office/drawing/2014/main" id="{5B0B668C-1C67-FF03-BC3A-1325144FCE53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>
                <a:solidFill>
                  <a:srgbClr val="0E3554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7724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00" b="1" dirty="0" err="1">
                <a:solidFill>
                  <a:srgbClr val="212D3A"/>
                </a:solidFill>
                <a:latin typeface="Arial"/>
              </a:rPr>
              <a:t>Проблема</a:t>
            </a:r>
            <a:r>
              <a:rPr sz="2800" b="1" dirty="0">
                <a:solidFill>
                  <a:srgbClr val="212D3A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212D3A"/>
                </a:solidFill>
                <a:latin typeface="Arial"/>
              </a:rPr>
              <a:t>та</a:t>
            </a:r>
            <a:r>
              <a:rPr sz="2800" b="1" dirty="0">
                <a:solidFill>
                  <a:srgbClr val="212D3A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212D3A"/>
                </a:solidFill>
                <a:latin typeface="Arial"/>
              </a:rPr>
              <a:t>актуальність</a:t>
            </a:r>
            <a:endParaRPr sz="2800" b="1" dirty="0">
              <a:solidFill>
                <a:srgbClr val="212D3A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730520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uk-UA" sz="1600" dirty="0">
                <a:solidFill>
                  <a:srgbClr val="5D6978"/>
                </a:solidFill>
                <a:latin typeface="Arial"/>
              </a:rPr>
              <a:t>Ключові проблеми предметної області та підхід </a:t>
            </a:r>
            <a:r>
              <a:rPr lang="en-US" sz="1600" dirty="0" err="1">
                <a:solidFill>
                  <a:srgbClr val="5D6978"/>
                </a:solidFill>
                <a:latin typeface="Arial"/>
              </a:rPr>
              <a:t>PhysioAssist</a:t>
            </a:r>
            <a:r>
              <a:rPr lang="en-US" sz="1600" dirty="0">
                <a:solidFill>
                  <a:srgbClr val="5D6978"/>
                </a:solidFill>
                <a:latin typeface="Arial"/>
              </a:rPr>
              <a:t> </a:t>
            </a:r>
            <a:r>
              <a:rPr lang="uk-UA" sz="1600" dirty="0">
                <a:solidFill>
                  <a:srgbClr val="5D6978"/>
                </a:solidFill>
                <a:latin typeface="Arial"/>
              </a:rPr>
              <a:t>до їх вирішення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960120" cy="32004"/>
          </a:xfrm>
          <a:prstGeom prst="rect">
            <a:avLst/>
          </a:prstGeom>
          <a:solidFill>
            <a:srgbClr val="F5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13407" y="1422627"/>
            <a:ext cx="32302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 dirty="0" err="1">
                <a:solidFill>
                  <a:srgbClr val="212D3A"/>
                </a:solidFill>
                <a:latin typeface="Arial"/>
              </a:rPr>
              <a:t>Проблеми</a:t>
            </a:r>
            <a:r>
              <a:rPr sz="1550" b="1" dirty="0">
                <a:solidFill>
                  <a:srgbClr val="212D3A"/>
                </a:solidFill>
                <a:latin typeface="Arial"/>
              </a:rPr>
              <a:t> </a:t>
            </a:r>
            <a:r>
              <a:rPr sz="1550" b="1" dirty="0" err="1">
                <a:solidFill>
                  <a:srgbClr val="212D3A"/>
                </a:solidFill>
                <a:latin typeface="Arial"/>
              </a:rPr>
              <a:t>предметної</a:t>
            </a:r>
            <a:r>
              <a:rPr sz="1550" b="1" dirty="0">
                <a:solidFill>
                  <a:srgbClr val="212D3A"/>
                </a:solidFill>
                <a:latin typeface="Arial"/>
              </a:rPr>
              <a:t> </a:t>
            </a:r>
            <a:r>
              <a:rPr sz="1550" b="1" dirty="0" err="1">
                <a:solidFill>
                  <a:srgbClr val="212D3A"/>
                </a:solidFill>
                <a:latin typeface="Arial"/>
              </a:rPr>
              <a:t>області</a:t>
            </a:r>
            <a:endParaRPr sz="1550" b="1" dirty="0">
              <a:solidFill>
                <a:srgbClr val="212D3A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55865" y="1417366"/>
            <a:ext cx="1993482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 dirty="0" err="1">
                <a:solidFill>
                  <a:srgbClr val="212D3A"/>
                </a:solidFill>
                <a:latin typeface="Arial"/>
              </a:rPr>
              <a:t>Підхід</a:t>
            </a:r>
            <a:r>
              <a:rPr sz="1550" b="1" dirty="0">
                <a:solidFill>
                  <a:srgbClr val="212D3A"/>
                </a:solidFill>
                <a:latin typeface="Arial"/>
              </a:rPr>
              <a:t> </a:t>
            </a:r>
            <a:r>
              <a:rPr lang="en-US" sz="1550" b="1" dirty="0" err="1">
                <a:solidFill>
                  <a:srgbClr val="212D3A"/>
                </a:solidFill>
                <a:latin typeface="Arial"/>
              </a:rPr>
              <a:t>PhysioAssist</a:t>
            </a:r>
            <a:endParaRPr sz="1550" b="1" dirty="0">
              <a:solidFill>
                <a:srgbClr val="212D3A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" y="1874519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0664" y="2020824"/>
            <a:ext cx="438912" cy="457200"/>
          </a:xfrm>
          <a:prstGeom prst="roundRect">
            <a:avLst/>
          </a:prstGeom>
          <a:solidFill>
            <a:srgbClr val="F5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2020824"/>
            <a:ext cx="2431820" cy="2031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uk-UA" sz="1320" b="1" dirty="0">
                <a:solidFill>
                  <a:srgbClr val="212D3A"/>
                </a:solidFill>
                <a:latin typeface="Arial"/>
              </a:rPr>
              <a:t>Відсутність контролю вдома</a:t>
            </a:r>
            <a:endParaRPr sz="1320" b="1" dirty="0">
              <a:solidFill>
                <a:srgbClr val="212D3A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35024" y="2267712"/>
            <a:ext cx="420624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Пацієнти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часто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виконують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вправи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неправильно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або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травматично без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нагляду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лікаря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" y="2788920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40664" y="2935224"/>
            <a:ext cx="438912" cy="457200"/>
          </a:xfrm>
          <a:prstGeom prst="roundRect">
            <a:avLst/>
          </a:prstGeom>
          <a:solidFill>
            <a:srgbClr val="F5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2935224"/>
            <a:ext cx="2356222" cy="2031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uk-UA" sz="1320" b="1" dirty="0">
                <a:solidFill>
                  <a:srgbClr val="212D3A"/>
                </a:solidFill>
                <a:latin typeface="Arial"/>
              </a:rPr>
              <a:t>Складність оцінки прогресу</a:t>
            </a:r>
            <a:endParaRPr sz="1320" b="1" dirty="0">
              <a:solidFill>
                <a:srgbClr val="212D3A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35024" y="3182112"/>
            <a:ext cx="420624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Дані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про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реабілітацію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суб'єктивні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важко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точно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виміряти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динаміку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амплітуди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рухів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(ROM).</a:t>
            </a:r>
            <a:endParaRPr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" y="3703320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0664" y="3849624"/>
            <a:ext cx="438912" cy="457200"/>
          </a:xfrm>
          <a:prstGeom prst="roundRect">
            <a:avLst/>
          </a:prstGeom>
          <a:solidFill>
            <a:srgbClr val="F5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849624"/>
            <a:ext cx="2320443" cy="2031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uk-UA" sz="1320" b="1" dirty="0">
                <a:solidFill>
                  <a:srgbClr val="212D3A"/>
                </a:solidFill>
                <a:latin typeface="Arial"/>
              </a:rPr>
              <a:t>Низька мотивація пацієнтів</a:t>
            </a:r>
            <a:endParaRPr sz="1320" b="1" dirty="0">
              <a:solidFill>
                <a:srgbClr val="212D3A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35024" y="4096511"/>
            <a:ext cx="420624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Статичні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паперові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інструкції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неефективні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пацієнти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швидко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втрачають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інтерес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і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кидають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курс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sz="1050" dirty="0">
              <a:solidFill>
                <a:schemeClr val="bg1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21792" y="4617720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40664" y="4764024"/>
            <a:ext cx="438912" cy="457200"/>
          </a:xfrm>
          <a:prstGeom prst="roundRect">
            <a:avLst/>
          </a:prstGeom>
          <a:solidFill>
            <a:srgbClr val="F5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5024" y="4764024"/>
            <a:ext cx="2503249" cy="2031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uk-UA" sz="1320" b="1" dirty="0">
                <a:solidFill>
                  <a:srgbClr val="212D3A"/>
                </a:solidFill>
                <a:latin typeface="Arial"/>
              </a:rPr>
              <a:t>Обмежений ресурс терапевта</a:t>
            </a:r>
            <a:endParaRPr sz="1320" b="1" dirty="0">
              <a:solidFill>
                <a:srgbClr val="212D3A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35024" y="5010912"/>
            <a:ext cx="420624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Лікар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не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має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фізичної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можливості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супроводжувати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кожного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пацієнта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щодня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поза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клінікою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291072" y="1874519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9944" y="2020824"/>
            <a:ext cx="438912" cy="457200"/>
          </a:xfrm>
          <a:prstGeom prst="roundRect">
            <a:avLst/>
          </a:prstGeom>
          <a:solidFill>
            <a:srgbClr val="00A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4304" y="2020824"/>
            <a:ext cx="2280111" cy="2031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uk-UA" sz="1320" b="1" dirty="0" err="1">
                <a:solidFill>
                  <a:srgbClr val="212D3A"/>
                </a:solidFill>
                <a:latin typeface="Arial"/>
              </a:rPr>
              <a:t>Вебмоніторинг</a:t>
            </a:r>
            <a:r>
              <a:rPr lang="uk-UA" sz="1320" b="1" dirty="0">
                <a:solidFill>
                  <a:srgbClr val="212D3A"/>
                </a:solidFill>
                <a:latin typeface="Arial"/>
              </a:rPr>
              <a:t> реабілітації</a:t>
            </a:r>
            <a:endParaRPr sz="1320" b="1" dirty="0">
              <a:solidFill>
                <a:srgbClr val="212D3A"/>
              </a:solidFill>
              <a:latin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04304" y="2267712"/>
            <a:ext cx="420624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React-клієнт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дозволяє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пацієнту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фіксувати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результати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тренувань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передавати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їх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на сервер через REST API.</a:t>
            </a:r>
            <a:endParaRPr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291072" y="2788920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09944" y="2935224"/>
            <a:ext cx="438912" cy="457200"/>
          </a:xfrm>
          <a:prstGeom prst="roundRect">
            <a:avLst/>
          </a:prstGeom>
          <a:solidFill>
            <a:srgbClr val="00A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4304" y="2935224"/>
            <a:ext cx="42062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20" b="1" dirty="0" err="1">
                <a:solidFill>
                  <a:srgbClr val="212D3A"/>
                </a:solidFill>
                <a:latin typeface="Arial"/>
              </a:rPr>
              <a:t>Централізована</a:t>
            </a:r>
            <a:r>
              <a:rPr sz="1320" b="1" dirty="0">
                <a:solidFill>
                  <a:srgbClr val="212D3A"/>
                </a:solidFill>
                <a:latin typeface="Arial"/>
              </a:rPr>
              <a:t> </a:t>
            </a:r>
            <a:r>
              <a:rPr sz="1320" b="1" dirty="0" err="1">
                <a:solidFill>
                  <a:srgbClr val="212D3A"/>
                </a:solidFill>
                <a:latin typeface="Arial"/>
              </a:rPr>
              <a:t>обробка</a:t>
            </a:r>
            <a:endParaRPr sz="1320" b="1" dirty="0">
              <a:solidFill>
                <a:srgbClr val="212D3A"/>
              </a:solidFill>
              <a:latin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004304" y="3182112"/>
            <a:ext cx="420624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Django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REST Framework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перевіряє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дані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зберігає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їх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забезпечує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бізнес-логіку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лікування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291072" y="3703320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409944" y="3849624"/>
            <a:ext cx="438912" cy="457200"/>
          </a:xfrm>
          <a:prstGeom prst="roundRect">
            <a:avLst/>
          </a:prstGeom>
          <a:solidFill>
            <a:srgbClr val="00A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04304" y="3849624"/>
            <a:ext cx="2516651" cy="2031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20" b="1" dirty="0" err="1">
                <a:solidFill>
                  <a:srgbClr val="212D3A"/>
                </a:solidFill>
                <a:latin typeface="Arial"/>
              </a:rPr>
              <a:t>Реакція</a:t>
            </a:r>
            <a:r>
              <a:rPr sz="1320" b="1" dirty="0">
                <a:solidFill>
                  <a:srgbClr val="212D3A"/>
                </a:solidFill>
                <a:latin typeface="Arial"/>
              </a:rPr>
              <a:t> </a:t>
            </a:r>
            <a:r>
              <a:rPr sz="1320" b="1" dirty="0" err="1">
                <a:solidFill>
                  <a:srgbClr val="212D3A"/>
                </a:solidFill>
                <a:latin typeface="Arial"/>
              </a:rPr>
              <a:t>на</a:t>
            </a:r>
            <a:r>
              <a:rPr sz="1320" b="1" dirty="0">
                <a:solidFill>
                  <a:srgbClr val="212D3A"/>
                </a:solidFill>
                <a:latin typeface="Arial"/>
              </a:rPr>
              <a:t> </a:t>
            </a:r>
            <a:r>
              <a:rPr sz="1320" b="1" dirty="0" err="1">
                <a:solidFill>
                  <a:srgbClr val="212D3A"/>
                </a:solidFill>
                <a:latin typeface="Arial"/>
              </a:rPr>
              <a:t>відхилення</a:t>
            </a:r>
            <a:r>
              <a:rPr lang="uk-UA" sz="1320" b="1" dirty="0">
                <a:solidFill>
                  <a:srgbClr val="212D3A"/>
                </a:solidFill>
                <a:latin typeface="Arial"/>
              </a:rPr>
              <a:t> та біль</a:t>
            </a:r>
            <a:endParaRPr sz="1320" b="1" dirty="0">
              <a:solidFill>
                <a:srgbClr val="212D3A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004304" y="4096511"/>
            <a:ext cx="420624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Інтерактивні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цифрові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звіти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(логи болю)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сигналізують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терапевту про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погіршення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стану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чи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труднощі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пацієнта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291072" y="4617720"/>
            <a:ext cx="5074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409944" y="4764024"/>
            <a:ext cx="438912" cy="457200"/>
          </a:xfrm>
          <a:prstGeom prst="roundRect">
            <a:avLst/>
          </a:prstGeom>
          <a:solidFill>
            <a:srgbClr val="00A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04304" y="4764024"/>
            <a:ext cx="42062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20" b="1" dirty="0" err="1">
                <a:solidFill>
                  <a:srgbClr val="212D3A"/>
                </a:solidFill>
                <a:latin typeface="Arial"/>
              </a:rPr>
              <a:t>Рольові</a:t>
            </a:r>
            <a:r>
              <a:rPr sz="1320" b="1" dirty="0">
                <a:solidFill>
                  <a:srgbClr val="212D3A"/>
                </a:solidFill>
                <a:latin typeface="Arial"/>
              </a:rPr>
              <a:t> </a:t>
            </a:r>
            <a:r>
              <a:rPr sz="1320" b="1" dirty="0" err="1">
                <a:solidFill>
                  <a:srgbClr val="212D3A"/>
                </a:solidFill>
                <a:latin typeface="Arial"/>
              </a:rPr>
              <a:t>інтерфейси</a:t>
            </a:r>
            <a:endParaRPr sz="1320" b="1" dirty="0">
              <a:solidFill>
                <a:srgbClr val="212D3A"/>
              </a:solidFill>
              <a:latin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004304" y="5010912"/>
            <a:ext cx="420624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Web-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кабінети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зручний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конструктор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для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фізіотерапевта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адаптивний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трекер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вправ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для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пацієнта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Oval 4">
            <a:extLst>
              <a:ext uri="{FF2B5EF4-FFF2-40B4-BE49-F238E27FC236}">
                <a16:creationId xmlns:a16="http://schemas.microsoft.com/office/drawing/2014/main" id="{17D6E7D7-F5B6-EC63-D428-0820A2E7CFA4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E3554"/>
                </a:solidFill>
                <a:latin typeface="Arial"/>
              </a:rPr>
              <a:t>2</a:t>
            </a:r>
            <a:endParaRPr sz="1200" dirty="0">
              <a:solidFill>
                <a:srgbClr val="0E3554"/>
              </a:solidFill>
              <a:latin typeface="Arial"/>
            </a:endParaRPr>
          </a:p>
        </p:txBody>
      </p:sp>
      <p:pic>
        <p:nvPicPr>
          <p:cNvPr id="47" name="Picture 3" descr="se_logo_cropped.png">
            <a:extLst>
              <a:ext uri="{FF2B5EF4-FFF2-40B4-BE49-F238E27FC236}">
                <a16:creationId xmlns:a16="http://schemas.microsoft.com/office/drawing/2014/main" id="{54F710FA-14FC-6816-1F8B-805F9DFCB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grpSp>
        <p:nvGrpSpPr>
          <p:cNvPr id="76" name="Групувати 75">
            <a:extLst>
              <a:ext uri="{FF2B5EF4-FFF2-40B4-BE49-F238E27FC236}">
                <a16:creationId xmlns:a16="http://schemas.microsoft.com/office/drawing/2014/main" id="{8BD3F37A-3C38-6E84-AA23-BA338262BF11}"/>
              </a:ext>
            </a:extLst>
          </p:cNvPr>
          <p:cNvGrpSpPr/>
          <p:nvPr/>
        </p:nvGrpSpPr>
        <p:grpSpPr>
          <a:xfrm>
            <a:off x="2585829" y="5653334"/>
            <a:ext cx="5901726" cy="875482"/>
            <a:chOff x="2469602" y="5534462"/>
            <a:chExt cx="5901726" cy="875482"/>
          </a:xfrm>
        </p:grpSpPr>
        <p:grpSp>
          <p:nvGrpSpPr>
            <p:cNvPr id="43" name="Групувати 42">
              <a:extLst>
                <a:ext uri="{FF2B5EF4-FFF2-40B4-BE49-F238E27FC236}">
                  <a16:creationId xmlns:a16="http://schemas.microsoft.com/office/drawing/2014/main" id="{B9A8FE4A-D0A6-7485-2CCC-FA7BFE5FEE28}"/>
                </a:ext>
              </a:extLst>
            </p:cNvPr>
            <p:cNvGrpSpPr/>
            <p:nvPr/>
          </p:nvGrpSpPr>
          <p:grpSpPr>
            <a:xfrm>
              <a:off x="2469602" y="5534462"/>
              <a:ext cx="1325880" cy="401873"/>
              <a:chOff x="1243584" y="4690872"/>
              <a:chExt cx="1325880" cy="401873"/>
            </a:xfrm>
          </p:grpSpPr>
          <p:sp>
            <p:nvSpPr>
              <p:cNvPr id="44" name="Rounded Rectangle 4">
                <a:extLst>
                  <a:ext uri="{FF2B5EF4-FFF2-40B4-BE49-F238E27FC236}">
                    <a16:creationId xmlns:a16="http://schemas.microsoft.com/office/drawing/2014/main" id="{AD0CA7C0-55DA-6605-E2AA-10A1C00D54AB}"/>
                  </a:ext>
                </a:extLst>
              </p:cNvPr>
              <p:cNvSpPr/>
              <p:nvPr/>
            </p:nvSpPr>
            <p:spPr>
              <a:xfrm>
                <a:off x="1243584" y="4690872"/>
                <a:ext cx="1325880" cy="384048"/>
              </a:xfrm>
              <a:prstGeom prst="roundRect">
                <a:avLst/>
              </a:prstGeom>
              <a:solidFill>
                <a:srgbClr val="F8FAFC"/>
              </a:solidFill>
              <a:ln w="8890">
                <a:solidFill>
                  <a:srgbClr val="D3DAE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Oval 5">
                <a:extLst>
                  <a:ext uri="{FF2B5EF4-FFF2-40B4-BE49-F238E27FC236}">
                    <a16:creationId xmlns:a16="http://schemas.microsoft.com/office/drawing/2014/main" id="{4F8170B5-10D2-E063-61D8-6B79B2C508F3}"/>
                  </a:ext>
                </a:extLst>
              </p:cNvPr>
              <p:cNvSpPr/>
              <p:nvPr/>
            </p:nvSpPr>
            <p:spPr>
              <a:xfrm>
                <a:off x="1316736" y="4809744"/>
                <a:ext cx="137160" cy="13716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A8600C2-7F00-043F-D42E-A92B77AFD731}"/>
                  </a:ext>
                </a:extLst>
              </p:cNvPr>
              <p:cNvSpPr txBox="1"/>
              <p:nvPr/>
            </p:nvSpPr>
            <p:spPr>
              <a:xfrm>
                <a:off x="1479402" y="4708992"/>
                <a:ext cx="960120" cy="13849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ru-RU" sz="900" b="1" dirty="0" err="1"/>
                  <a:t>Physitrack</a:t>
                </a:r>
                <a:r>
                  <a:rPr lang="ru-RU" sz="900" dirty="0"/>
                  <a:t> </a:t>
                </a:r>
                <a:endParaRPr sz="830" b="1" dirty="0">
                  <a:solidFill>
                    <a:srgbClr val="232D3A"/>
                  </a:solidFill>
                  <a:latin typeface="Arial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7260900-FD48-A6D2-3F23-A16530FC9318}"/>
                  </a:ext>
                </a:extLst>
              </p:cNvPr>
              <p:cNvSpPr txBox="1"/>
              <p:nvPr/>
            </p:nvSpPr>
            <p:spPr>
              <a:xfrm>
                <a:off x="1489866" y="4846524"/>
                <a:ext cx="960120" cy="24622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ru-RU" sz="80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HEP-</a:t>
                </a:r>
                <a:r>
                  <a:rPr lang="ru-RU" sz="800" dirty="0" err="1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відео</a:t>
                </a:r>
                <a:r>
                  <a:rPr lang="ru-RU" sz="80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телемедицина</a:t>
                </a:r>
                <a:endParaRPr sz="800" b="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0" name="Групувати 49">
              <a:extLst>
                <a:ext uri="{FF2B5EF4-FFF2-40B4-BE49-F238E27FC236}">
                  <a16:creationId xmlns:a16="http://schemas.microsoft.com/office/drawing/2014/main" id="{5A872812-E8EE-AB9F-0EA6-5775DC102859}"/>
                </a:ext>
              </a:extLst>
            </p:cNvPr>
            <p:cNvGrpSpPr/>
            <p:nvPr/>
          </p:nvGrpSpPr>
          <p:grpSpPr>
            <a:xfrm>
              <a:off x="2469602" y="6025896"/>
              <a:ext cx="1325880" cy="384048"/>
              <a:chOff x="2679192" y="4690872"/>
              <a:chExt cx="1325880" cy="384048"/>
            </a:xfrm>
          </p:grpSpPr>
          <p:sp>
            <p:nvSpPr>
              <p:cNvPr id="51" name="Rounded Rectangle 8">
                <a:extLst>
                  <a:ext uri="{FF2B5EF4-FFF2-40B4-BE49-F238E27FC236}">
                    <a16:creationId xmlns:a16="http://schemas.microsoft.com/office/drawing/2014/main" id="{1CAEDCDD-6CD5-7260-BB77-E8569C1F74F8}"/>
                  </a:ext>
                </a:extLst>
              </p:cNvPr>
              <p:cNvSpPr/>
              <p:nvPr/>
            </p:nvSpPr>
            <p:spPr>
              <a:xfrm>
                <a:off x="2679192" y="4690872"/>
                <a:ext cx="1325880" cy="384048"/>
              </a:xfrm>
              <a:prstGeom prst="roundRect">
                <a:avLst/>
              </a:prstGeom>
              <a:solidFill>
                <a:srgbClr val="F8FAFC"/>
              </a:solidFill>
              <a:ln w="8890">
                <a:solidFill>
                  <a:srgbClr val="D3DAE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Oval 9">
                <a:extLst>
                  <a:ext uri="{FF2B5EF4-FFF2-40B4-BE49-F238E27FC236}">
                    <a16:creationId xmlns:a16="http://schemas.microsoft.com/office/drawing/2014/main" id="{5C584B9E-9BF9-541B-EEA8-88606207DA50}"/>
                  </a:ext>
                </a:extLst>
              </p:cNvPr>
              <p:cNvSpPr/>
              <p:nvPr/>
            </p:nvSpPr>
            <p:spPr>
              <a:xfrm>
                <a:off x="2752344" y="4809744"/>
                <a:ext cx="137160" cy="13716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528A575-BEBA-AB99-763C-78E5C886AD48}"/>
                  </a:ext>
                </a:extLst>
              </p:cNvPr>
              <p:cNvSpPr txBox="1"/>
              <p:nvPr/>
            </p:nvSpPr>
            <p:spPr>
              <a:xfrm>
                <a:off x="2935224" y="4691097"/>
                <a:ext cx="960120" cy="13849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ru-RU" sz="900" b="1" dirty="0" err="1"/>
                  <a:t>MedBridge</a:t>
                </a:r>
                <a:r>
                  <a:rPr lang="ru-RU" sz="900" dirty="0"/>
                  <a:t> </a:t>
                </a:r>
                <a:endParaRPr sz="830" b="1" dirty="0">
                  <a:solidFill>
                    <a:srgbClr val="232D3A"/>
                  </a:solidFill>
                  <a:latin typeface="Arial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67C7D73-1B4D-296E-FD3C-2228852D9713}"/>
                  </a:ext>
                </a:extLst>
              </p:cNvPr>
              <p:cNvSpPr txBox="1"/>
              <p:nvPr/>
            </p:nvSpPr>
            <p:spPr>
              <a:xfrm>
                <a:off x="2935224" y="4819012"/>
                <a:ext cx="960120" cy="24622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ru-RU" sz="80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корпоративна </a:t>
                </a:r>
                <a:r>
                  <a:rPr lang="ru-RU" sz="800" dirty="0" err="1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аналітика</a:t>
                </a:r>
                <a:endParaRPr sz="800" b="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5" name="Групувати 54">
              <a:extLst>
                <a:ext uri="{FF2B5EF4-FFF2-40B4-BE49-F238E27FC236}">
                  <a16:creationId xmlns:a16="http://schemas.microsoft.com/office/drawing/2014/main" id="{D36B86E4-4C99-4737-7303-E22EED0AB651}"/>
                </a:ext>
              </a:extLst>
            </p:cNvPr>
            <p:cNvGrpSpPr/>
            <p:nvPr/>
          </p:nvGrpSpPr>
          <p:grpSpPr>
            <a:xfrm>
              <a:off x="3941786" y="5534462"/>
              <a:ext cx="1325880" cy="384048"/>
              <a:chOff x="4114800" y="4690872"/>
              <a:chExt cx="1325880" cy="384048"/>
            </a:xfrm>
          </p:grpSpPr>
          <p:sp>
            <p:nvSpPr>
              <p:cNvPr id="56" name="Rounded Rectangle 12">
                <a:extLst>
                  <a:ext uri="{FF2B5EF4-FFF2-40B4-BE49-F238E27FC236}">
                    <a16:creationId xmlns:a16="http://schemas.microsoft.com/office/drawing/2014/main" id="{3FC622FA-E9F4-D57C-DDA6-91F51A7A9F0B}"/>
                  </a:ext>
                </a:extLst>
              </p:cNvPr>
              <p:cNvSpPr/>
              <p:nvPr/>
            </p:nvSpPr>
            <p:spPr>
              <a:xfrm>
                <a:off x="4114800" y="4690872"/>
                <a:ext cx="1325880" cy="384048"/>
              </a:xfrm>
              <a:prstGeom prst="roundRect">
                <a:avLst/>
              </a:prstGeom>
              <a:solidFill>
                <a:srgbClr val="F8FAFC"/>
              </a:solidFill>
              <a:ln w="8890">
                <a:solidFill>
                  <a:srgbClr val="D3DAE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Oval 13">
                <a:extLst>
                  <a:ext uri="{FF2B5EF4-FFF2-40B4-BE49-F238E27FC236}">
                    <a16:creationId xmlns:a16="http://schemas.microsoft.com/office/drawing/2014/main" id="{04CD4CEE-D21C-10E7-D349-0B748D28AE6E}"/>
                  </a:ext>
                </a:extLst>
              </p:cNvPr>
              <p:cNvSpPr/>
              <p:nvPr/>
            </p:nvSpPr>
            <p:spPr>
              <a:xfrm>
                <a:off x="4187952" y="4809744"/>
                <a:ext cx="137160" cy="13716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FE75C94-C6E0-0E41-1EE2-A021072669BA}"/>
                  </a:ext>
                </a:extLst>
              </p:cNvPr>
              <p:cNvSpPr txBox="1"/>
              <p:nvPr/>
            </p:nvSpPr>
            <p:spPr>
              <a:xfrm>
                <a:off x="4384524" y="4720078"/>
                <a:ext cx="960120" cy="13849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ru-RU" sz="9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SimpleSet</a:t>
                </a:r>
                <a:endParaRPr sz="900" b="1" dirty="0">
                  <a:solidFill>
                    <a:srgbClr val="232D3A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EF9588A-94E1-2B56-436C-B60C711DABC6}"/>
                  </a:ext>
                </a:extLst>
              </p:cNvPr>
              <p:cNvSpPr txBox="1"/>
              <p:nvPr/>
            </p:nvSpPr>
            <p:spPr>
              <a:xfrm>
                <a:off x="4370832" y="4901184"/>
                <a:ext cx="960120" cy="12311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ru-RU" sz="800" dirty="0" err="1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drag-and-drop</a:t>
                </a:r>
                <a:r>
                  <a:rPr lang="ru-RU" sz="800" dirty="0">
                    <a:solidFill>
                      <a:schemeClr val="bg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sz="800" b="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5" name="Групувати 64">
              <a:extLst>
                <a:ext uri="{FF2B5EF4-FFF2-40B4-BE49-F238E27FC236}">
                  <a16:creationId xmlns:a16="http://schemas.microsoft.com/office/drawing/2014/main" id="{79EAF13E-26FD-60FC-1D0B-CCB4DB135084}"/>
                </a:ext>
              </a:extLst>
            </p:cNvPr>
            <p:cNvGrpSpPr/>
            <p:nvPr/>
          </p:nvGrpSpPr>
          <p:grpSpPr>
            <a:xfrm>
              <a:off x="5536694" y="5607614"/>
              <a:ext cx="2834634" cy="694944"/>
              <a:chOff x="7690104" y="4276268"/>
              <a:chExt cx="2834634" cy="694944"/>
            </a:xfrm>
          </p:grpSpPr>
          <p:cxnSp>
            <p:nvCxnSpPr>
              <p:cNvPr id="66" name="Connector 21">
                <a:extLst>
                  <a:ext uri="{FF2B5EF4-FFF2-40B4-BE49-F238E27FC236}">
                    <a16:creationId xmlns:a16="http://schemas.microsoft.com/office/drawing/2014/main" id="{62A271C6-4244-0D53-213F-D40E9EE167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90104" y="4626864"/>
                <a:ext cx="466344" cy="0"/>
              </a:xfrm>
              <a:prstGeom prst="line">
                <a:avLst/>
              </a:prstGeom>
              <a:ln w="27940">
                <a:solidFill>
                  <a:srgbClr val="14B0D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Right Triangle 22">
                <a:extLst>
                  <a:ext uri="{FF2B5EF4-FFF2-40B4-BE49-F238E27FC236}">
                    <a16:creationId xmlns:a16="http://schemas.microsoft.com/office/drawing/2014/main" id="{63C59706-4534-5F53-F5FD-4884D2440556}"/>
                  </a:ext>
                </a:extLst>
              </p:cNvPr>
              <p:cNvSpPr/>
              <p:nvPr/>
            </p:nvSpPr>
            <p:spPr>
              <a:xfrm rot="13335399">
                <a:off x="8065006" y="4543417"/>
                <a:ext cx="182880" cy="182880"/>
              </a:xfrm>
              <a:prstGeom prst="rtTriangle">
                <a:avLst/>
              </a:prstGeom>
              <a:solidFill>
                <a:srgbClr val="14B0D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Rounded Rectangle 24">
                <a:extLst>
                  <a:ext uri="{FF2B5EF4-FFF2-40B4-BE49-F238E27FC236}">
                    <a16:creationId xmlns:a16="http://schemas.microsoft.com/office/drawing/2014/main" id="{62C11765-05C2-53B7-182F-0FF27B3CC775}"/>
                  </a:ext>
                </a:extLst>
              </p:cNvPr>
              <p:cNvSpPr/>
              <p:nvPr/>
            </p:nvSpPr>
            <p:spPr>
              <a:xfrm>
                <a:off x="8622788" y="4276268"/>
                <a:ext cx="1874519" cy="694944"/>
              </a:xfrm>
              <a:prstGeom prst="roundRect">
                <a:avLst/>
              </a:prstGeom>
              <a:solidFill>
                <a:srgbClr val="FFFFFF"/>
              </a:solidFill>
              <a:ln w="17780">
                <a:solidFill>
                  <a:srgbClr val="14B0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B23C499-FD3E-18F6-3635-EED9FEEE0B5D}"/>
                  </a:ext>
                </a:extLst>
              </p:cNvPr>
              <p:cNvSpPr txBox="1"/>
              <p:nvPr/>
            </p:nvSpPr>
            <p:spPr>
              <a:xfrm>
                <a:off x="9153140" y="4404284"/>
                <a:ext cx="1097280" cy="18466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ru-RU" sz="1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PhysioAssist</a:t>
                </a:r>
                <a:endParaRPr sz="1180" b="1" dirty="0">
                  <a:solidFill>
                    <a:srgbClr val="232D3A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334AC0E-4364-1F94-E4C4-55B475746B41}"/>
                  </a:ext>
                </a:extLst>
              </p:cNvPr>
              <p:cNvSpPr txBox="1"/>
              <p:nvPr/>
            </p:nvSpPr>
            <p:spPr>
              <a:xfrm>
                <a:off x="9153139" y="4567708"/>
                <a:ext cx="1371599" cy="24622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sz="800" dirty="0">
                    <a:solidFill>
                      <a:srgbClr val="667181"/>
                    </a:solidFill>
                    <a:latin typeface="Arial"/>
                  </a:rPr>
                  <a:t>Django rest API</a:t>
                </a:r>
                <a:r>
                  <a:rPr sz="800" b="0" dirty="0">
                    <a:solidFill>
                      <a:srgbClr val="667181"/>
                    </a:solidFill>
                    <a:latin typeface="Arial"/>
                  </a:rPr>
                  <a:t> → </a:t>
                </a:r>
                <a:r>
                  <a:rPr lang="en-US" sz="800" b="0" dirty="0">
                    <a:solidFill>
                      <a:srgbClr val="667181"/>
                    </a:solidFill>
                    <a:latin typeface="Arial"/>
                  </a:rPr>
                  <a:t>PostgreSQL</a:t>
                </a:r>
                <a:r>
                  <a:rPr sz="800" b="0" dirty="0">
                    <a:solidFill>
                      <a:srgbClr val="667181"/>
                    </a:solidFill>
                    <a:latin typeface="Arial"/>
                  </a:rPr>
                  <a:t> → </a:t>
                </a:r>
                <a:r>
                  <a:rPr lang="en-US" sz="800" b="0" dirty="0">
                    <a:solidFill>
                      <a:srgbClr val="667181"/>
                    </a:solidFill>
                    <a:latin typeface="Arial"/>
                  </a:rPr>
                  <a:t>Webapps</a:t>
                </a:r>
                <a:endParaRPr sz="800" b="0" dirty="0">
                  <a:solidFill>
                    <a:srgbClr val="667181"/>
                  </a:solidFill>
                  <a:latin typeface="Arial"/>
                </a:endParaRPr>
              </a:p>
            </p:txBody>
          </p:sp>
          <p:pic>
            <p:nvPicPr>
              <p:cNvPr id="73" name="Рисунок 72">
                <a:extLst>
                  <a:ext uri="{FF2B5EF4-FFF2-40B4-BE49-F238E27FC236}">
                    <a16:creationId xmlns:a16="http://schemas.microsoft.com/office/drawing/2014/main" id="{237479AF-32C1-EBA3-F33B-A1C1A0C91E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86797" y="4404284"/>
                <a:ext cx="438912" cy="438912"/>
              </a:xfrm>
              <a:prstGeom prst="rect">
                <a:avLst/>
              </a:prstGeom>
            </p:spPr>
          </p:pic>
        </p:grp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2D0847FE-8B01-9CA2-DCB2-218F27A7D24B}"/>
              </a:ext>
            </a:extLst>
          </p:cNvPr>
          <p:cNvSpPr txBox="1"/>
          <p:nvPr/>
        </p:nvSpPr>
        <p:spPr>
          <a:xfrm>
            <a:off x="3301707" y="5338090"/>
            <a:ext cx="14726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uk-UA" sz="1400" dirty="0">
                <a:solidFill>
                  <a:srgbClr val="232D3A"/>
                </a:solidFill>
                <a:latin typeface="Arial"/>
              </a:rPr>
              <a:t>Готові рішення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3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9456" y="237744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50" b="1">
                <a:solidFill>
                  <a:srgbClr val="232D3A"/>
                </a:solidFill>
                <a:latin typeface="Arial"/>
              </a:rPr>
              <a:t>Мета, об’єкт, предмет і завдання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" y="640080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80" b="0">
                <a:solidFill>
                  <a:srgbClr val="67717E"/>
                </a:solidFill>
                <a:latin typeface="Arial"/>
              </a:rPr>
              <a:t>Що саме визначено та реалізовано в межах кваліфікаційної роботи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115568"/>
            <a:ext cx="113842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307592"/>
            <a:ext cx="960120" cy="301752"/>
          </a:xfrm>
          <a:prstGeom prst="roundRect">
            <a:avLst/>
          </a:prstGeom>
          <a:solidFill>
            <a:srgbClr val="14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Мета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1271016"/>
            <a:ext cx="97840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Розробити</a:t>
            </a:r>
            <a:r>
              <a:rPr lang="ru-RU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програмну</a:t>
            </a:r>
            <a:r>
              <a:rPr lang="ru-RU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систему «</a:t>
            </a:r>
            <a:r>
              <a:rPr lang="ru-RU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PhysioAssist</a:t>
            </a:r>
            <a:r>
              <a:rPr lang="ru-RU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для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автоматизації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взаємодії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між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фізіотерапевтом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і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пацієнтом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забезпечує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призначення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індивідуальних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реабілітації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фіксацію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щоденних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звітів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пацієнта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графічний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моніторинг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динаміки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його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стану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200" b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74320" y="2267712"/>
            <a:ext cx="55321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2450592"/>
            <a:ext cx="1033271" cy="301752"/>
          </a:xfrm>
          <a:prstGeom prst="roundRect">
            <a:avLst/>
          </a:prstGeom>
          <a:solidFill>
            <a:srgbClr val="14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Об’єкт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2496" y="2395728"/>
            <a:ext cx="384048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управління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реабілітацією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дистанційного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моніторингу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стану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пацієнтів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під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час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виконання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фізичної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терапії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2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89320" y="2267712"/>
            <a:ext cx="566928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2200" y="2450592"/>
            <a:ext cx="1024128" cy="301752"/>
          </a:xfrm>
          <a:prstGeom prst="roundRect">
            <a:avLst/>
          </a:prstGeom>
          <a:solidFill>
            <a:srgbClr val="14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Предмет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9208" y="2264091"/>
            <a:ext cx="3977639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Програмна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система </a:t>
            </a:r>
            <a:r>
              <a:rPr lang="ru-RU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PhysioAssist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її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архітектура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структура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збереження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даних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алгоритми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взаємодії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клієнтської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і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серверної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Django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REST Framework) </a:t>
            </a:r>
            <a:r>
              <a:rPr lang="ru-RU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частин</a:t>
            </a: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200" b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74320" y="3383280"/>
            <a:ext cx="11384280" cy="2011680"/>
          </a:xfrm>
          <a:prstGeom prst="roundRect">
            <a:avLst/>
          </a:prstGeom>
          <a:solidFill>
            <a:srgbClr val="F6E8CA"/>
          </a:solidFill>
          <a:ln w="12700">
            <a:solidFill>
              <a:srgbClr val="D3B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566928" y="353872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80" b="1">
                <a:solidFill>
                  <a:srgbClr val="232D3A"/>
                </a:solidFill>
                <a:latin typeface="Arial"/>
              </a:rPr>
              <a:t>Ключові завдання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81304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7717E"/>
                </a:solidFill>
                <a:latin typeface="Arial"/>
              </a:rPr>
              <a:t>Основні етапи виконання кваліфікаційної роботи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76688" y="353872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19" b="0">
                <a:solidFill>
                  <a:srgbClr val="7B5B2D"/>
                </a:solidFill>
                <a:latin typeface="Arial"/>
              </a:rPr>
              <a:t>мапа реалізації</a:t>
            </a:r>
          </a:p>
        </p:txBody>
      </p:sp>
      <p:sp>
        <p:nvSpPr>
          <p:cNvPr id="24" name="Oval 23"/>
          <p:cNvSpPr/>
          <p:nvPr/>
        </p:nvSpPr>
        <p:spPr>
          <a:xfrm>
            <a:off x="847648" y="448696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52151" y="446736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56654" y="444777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61157" y="4428177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265660" y="4408583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370163" y="4388989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474665" y="4369395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579168" y="434980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579168" y="434980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685848" y="437875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792528" y="440771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899208" y="443666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005888" y="446562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112568" y="449458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219248" y="452353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219248" y="452353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323751" y="4490879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428254" y="445822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2532757" y="4425565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637260" y="439290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741763" y="4360251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846265" y="4327593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950768" y="429493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2950768" y="429493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3052368" y="432541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153968" y="435589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255568" y="438637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3357168" y="441685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3458768" y="444733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3560368" y="447781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3661968" y="450829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3763568" y="453877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3865168" y="456925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3865168" y="456925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3964228" y="455096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4063288" y="453268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4162348" y="451439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4261408" y="449610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4360468" y="447781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4459528" y="445952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4558588" y="444124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4657648" y="442295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4756708" y="440466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4855768" y="438637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4954828" y="436808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5053888" y="434980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5053888" y="434980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5152948" y="437037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5252008" y="439094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5351068" y="441152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5450128" y="443209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5549188" y="445267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5648248" y="447324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5747308" y="449381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5846368" y="451439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5945428" y="453496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6044488" y="455554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6143548" y="457611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6242608" y="459668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6242608" y="459668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6342361" y="457424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6442114" y="455180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6541866" y="4529355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6641619" y="4506911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6741372" y="448446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6841125" y="446202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6940877" y="443957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7040630" y="4417133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7140383" y="4394689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7240136" y="4372245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7339888" y="434980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7339888" y="434980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7435485" y="4369751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7531081" y="4389701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7626677" y="440965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7722274" y="442960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7817870" y="4449553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7913466" y="446950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8009063" y="448945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8104659" y="4509405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8200256" y="4529355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8295852" y="454930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8391448" y="456925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8391448" y="456925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8487045" y="454930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8582641" y="4529355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8678237" y="4509405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8773834" y="448945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8869430" y="446950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8965026" y="4449553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9060623" y="442960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9156219" y="440965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9251816" y="4389701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9347412" y="4369751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9443008" y="434980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9443008" y="434980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9539528" y="437215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9636048" y="439450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9732568" y="441685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9829088" y="443920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9925608" y="4461560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0022128" y="4483912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0118648" y="4506264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0215168" y="4528616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0311688" y="4550968"/>
            <a:ext cx="42062" cy="42062"/>
          </a:xfrm>
          <a:prstGeom prst="ellipse">
            <a:avLst/>
          </a:prstGeom>
          <a:solidFill>
            <a:srgbClr val="7B5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658368" y="4297679"/>
            <a:ext cx="420624" cy="420624"/>
          </a:xfrm>
          <a:prstGeom prst="ellipse">
            <a:avLst/>
          </a:prstGeom>
          <a:solidFill>
            <a:srgbClr val="14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25551" y="4782312"/>
            <a:ext cx="15087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dirty="0" err="1">
                <a:solidFill>
                  <a:srgbClr val="353F4D"/>
                </a:solidFill>
                <a:latin typeface="Arial"/>
              </a:rPr>
              <a:t>Аналіз</a:t>
            </a:r>
            <a:endParaRPr sz="1200" b="0" dirty="0">
              <a:solidFill>
                <a:srgbClr val="353F4D"/>
              </a:solidFill>
              <a:latin typeface="Arial"/>
            </a:endParaRPr>
          </a:p>
          <a:p>
            <a:pPr algn="ctr"/>
            <a:r>
              <a:rPr sz="1200" b="0" dirty="0" err="1">
                <a:solidFill>
                  <a:srgbClr val="353F4D"/>
                </a:solidFill>
                <a:latin typeface="Arial"/>
              </a:rPr>
              <a:t>предметної</a:t>
            </a:r>
            <a:r>
              <a:rPr sz="1200" b="0" dirty="0">
                <a:solidFill>
                  <a:srgbClr val="353F4D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353F4D"/>
                </a:solidFill>
                <a:latin typeface="Arial"/>
              </a:rPr>
              <a:t>області</a:t>
            </a:r>
            <a:endParaRPr sz="1200" b="0" dirty="0">
              <a:solidFill>
                <a:srgbClr val="353F4D"/>
              </a:solidFill>
              <a:latin typeface="Arial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2761488" y="4105655"/>
            <a:ext cx="420624" cy="420624"/>
          </a:xfrm>
          <a:prstGeom prst="ellipse">
            <a:avLst/>
          </a:prstGeom>
          <a:solidFill>
            <a:srgbClr val="14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219248" y="4642604"/>
            <a:ext cx="15087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dirty="0" err="1">
                <a:solidFill>
                  <a:srgbClr val="353F4D"/>
                </a:solidFill>
                <a:latin typeface="Arial"/>
              </a:rPr>
              <a:t>Формування</a:t>
            </a:r>
            <a:endParaRPr sz="1200" b="0" dirty="0">
              <a:solidFill>
                <a:srgbClr val="353F4D"/>
              </a:solidFill>
              <a:latin typeface="Arial"/>
            </a:endParaRPr>
          </a:p>
          <a:p>
            <a:pPr algn="ctr"/>
            <a:r>
              <a:rPr sz="1200" b="0" dirty="0" err="1">
                <a:solidFill>
                  <a:srgbClr val="353F4D"/>
                </a:solidFill>
                <a:latin typeface="Arial"/>
              </a:rPr>
              <a:t>вимог</a:t>
            </a:r>
            <a:endParaRPr sz="1200" b="0" dirty="0">
              <a:solidFill>
                <a:srgbClr val="353F4D"/>
              </a:solidFill>
              <a:latin typeface="Arial"/>
            </a:endParaRPr>
          </a:p>
        </p:txBody>
      </p:sp>
      <p:sp>
        <p:nvSpPr>
          <p:cNvPr id="135" name="Oval 134"/>
          <p:cNvSpPr/>
          <p:nvPr/>
        </p:nvSpPr>
        <p:spPr>
          <a:xfrm>
            <a:off x="4864607" y="4160520"/>
            <a:ext cx="420624" cy="420624"/>
          </a:xfrm>
          <a:prstGeom prst="ellipse">
            <a:avLst/>
          </a:prstGeom>
          <a:solidFill>
            <a:srgbClr val="14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282439" y="4636008"/>
            <a:ext cx="15087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dirty="0" err="1">
                <a:solidFill>
                  <a:srgbClr val="353F4D"/>
                </a:solidFill>
                <a:latin typeface="Arial"/>
              </a:rPr>
              <a:t>Проєктування</a:t>
            </a:r>
            <a:endParaRPr sz="1200" b="0" dirty="0">
              <a:solidFill>
                <a:srgbClr val="353F4D"/>
              </a:solidFill>
              <a:latin typeface="Arial"/>
            </a:endParaRPr>
          </a:p>
          <a:p>
            <a:pPr algn="ctr"/>
            <a:r>
              <a:rPr sz="1200" b="0" dirty="0" err="1">
                <a:solidFill>
                  <a:srgbClr val="353F4D"/>
                </a:solidFill>
                <a:latin typeface="Arial"/>
              </a:rPr>
              <a:t>архітектури</a:t>
            </a:r>
            <a:r>
              <a:rPr sz="1200" b="0" dirty="0">
                <a:solidFill>
                  <a:srgbClr val="353F4D"/>
                </a:solidFill>
                <a:latin typeface="Arial"/>
              </a:rPr>
              <a:t> і БД</a:t>
            </a:r>
          </a:p>
        </p:txBody>
      </p:sp>
      <p:sp>
        <p:nvSpPr>
          <p:cNvPr id="137" name="Oval 136"/>
          <p:cNvSpPr/>
          <p:nvPr/>
        </p:nvSpPr>
        <p:spPr>
          <a:xfrm>
            <a:off x="7150608" y="4160520"/>
            <a:ext cx="420624" cy="420624"/>
          </a:xfrm>
          <a:prstGeom prst="ellipse">
            <a:avLst/>
          </a:prstGeom>
          <a:solidFill>
            <a:srgbClr val="14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578358" y="4642604"/>
            <a:ext cx="15087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dirty="0" err="1">
                <a:solidFill>
                  <a:srgbClr val="353F4D"/>
                </a:solidFill>
                <a:latin typeface="Arial"/>
              </a:rPr>
              <a:t>Реалізація</a:t>
            </a:r>
            <a:endParaRPr sz="1200" dirty="0">
              <a:solidFill>
                <a:srgbClr val="353F4D"/>
              </a:solidFill>
              <a:latin typeface="Arial"/>
            </a:endParaRPr>
          </a:p>
          <a:p>
            <a:pPr algn="ctr"/>
            <a:r>
              <a:rPr lang="en-US" sz="1200" dirty="0">
                <a:solidFill>
                  <a:srgbClr val="353F4D"/>
                </a:solidFill>
                <a:latin typeface="Arial"/>
              </a:rPr>
              <a:t>B</a:t>
            </a:r>
            <a:r>
              <a:rPr sz="1200" dirty="0">
                <a:solidFill>
                  <a:srgbClr val="353F4D"/>
                </a:solidFill>
                <a:latin typeface="Arial"/>
              </a:rPr>
              <a:t>ackend</a:t>
            </a:r>
            <a:r>
              <a:rPr lang="en-US" sz="1200" dirty="0">
                <a:solidFill>
                  <a:srgbClr val="353F4D"/>
                </a:solidFill>
                <a:latin typeface="Arial"/>
              </a:rPr>
              <a:t> </a:t>
            </a:r>
            <a:r>
              <a:rPr lang="ru-RU" sz="1200" dirty="0">
                <a:solidFill>
                  <a:srgbClr val="353F4D"/>
                </a:solidFill>
                <a:latin typeface="Arial"/>
              </a:rPr>
              <a:t>та </a:t>
            </a:r>
            <a:r>
              <a:rPr sz="1200" dirty="0">
                <a:solidFill>
                  <a:srgbClr val="353F4D"/>
                </a:solidFill>
                <a:latin typeface="Arial"/>
              </a:rPr>
              <a:t>web</a:t>
            </a:r>
          </a:p>
        </p:txBody>
      </p:sp>
      <p:sp>
        <p:nvSpPr>
          <p:cNvPr id="139" name="Oval 138"/>
          <p:cNvSpPr/>
          <p:nvPr/>
        </p:nvSpPr>
        <p:spPr>
          <a:xfrm>
            <a:off x="9253728" y="4160520"/>
            <a:ext cx="420624" cy="420624"/>
          </a:xfrm>
          <a:prstGeom prst="ellipse">
            <a:avLst/>
          </a:prstGeom>
          <a:solidFill>
            <a:srgbClr val="14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593032" y="4618176"/>
            <a:ext cx="15087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dirty="0" err="1">
                <a:solidFill>
                  <a:srgbClr val="353F4D"/>
                </a:solidFill>
                <a:latin typeface="Arial"/>
              </a:rPr>
              <a:t>Тестування</a:t>
            </a:r>
            <a:r>
              <a:rPr sz="1200" b="0" dirty="0">
                <a:solidFill>
                  <a:srgbClr val="353F4D"/>
                </a:solidFill>
                <a:latin typeface="Arial"/>
              </a:rPr>
              <a:t> й</a:t>
            </a:r>
          </a:p>
          <a:p>
            <a:pPr algn="ctr"/>
            <a:r>
              <a:rPr sz="1200" b="0" dirty="0" err="1">
                <a:solidFill>
                  <a:srgbClr val="353F4D"/>
                </a:solidFill>
                <a:latin typeface="Arial"/>
              </a:rPr>
              <a:t>експериментальна</a:t>
            </a:r>
            <a:endParaRPr sz="1200" b="0" dirty="0">
              <a:solidFill>
                <a:srgbClr val="353F4D"/>
              </a:solidFill>
              <a:latin typeface="Arial"/>
            </a:endParaRPr>
          </a:p>
          <a:p>
            <a:pPr algn="ctr"/>
            <a:r>
              <a:rPr sz="1200" b="0" dirty="0" err="1">
                <a:solidFill>
                  <a:srgbClr val="353F4D"/>
                </a:solidFill>
                <a:latin typeface="Arial"/>
              </a:rPr>
              <a:t>перевірка</a:t>
            </a:r>
            <a:endParaRPr sz="1200" b="0" dirty="0">
              <a:solidFill>
                <a:srgbClr val="353F4D"/>
              </a:solidFill>
              <a:latin typeface="Arial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10022128" y="4855464"/>
            <a:ext cx="15087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готова</a:t>
            </a:r>
            <a:r>
              <a:rPr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 </a:t>
            </a:r>
            <a:r>
              <a:rPr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система</a:t>
            </a:r>
            <a:endParaRPr sz="1200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</a:endParaRPr>
          </a:p>
          <a:p>
            <a:pPr algn="ctr"/>
            <a:r>
              <a:rPr 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</a:rPr>
              <a:t>PhysioAssist</a:t>
            </a:r>
            <a:endParaRPr sz="1200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</a:endParaRPr>
          </a:p>
        </p:txBody>
      </p:sp>
      <p:grpSp>
        <p:nvGrpSpPr>
          <p:cNvPr id="151" name="Групувати 150">
            <a:extLst>
              <a:ext uri="{FF2B5EF4-FFF2-40B4-BE49-F238E27FC236}">
                <a16:creationId xmlns:a16="http://schemas.microsoft.com/office/drawing/2014/main" id="{7FD57D01-00A3-D652-81BF-6C39C7A62749}"/>
              </a:ext>
            </a:extLst>
          </p:cNvPr>
          <p:cNvGrpSpPr/>
          <p:nvPr/>
        </p:nvGrpSpPr>
        <p:grpSpPr>
          <a:xfrm>
            <a:off x="10735056" y="3758184"/>
            <a:ext cx="310896" cy="310896"/>
            <a:chOff x="10927080" y="4078224"/>
            <a:chExt cx="310896" cy="310896"/>
          </a:xfrm>
        </p:grpSpPr>
        <p:sp>
          <p:nvSpPr>
            <p:cNvPr id="145" name="Oval 20">
              <a:extLst>
                <a:ext uri="{FF2B5EF4-FFF2-40B4-BE49-F238E27FC236}">
                  <a16:creationId xmlns:a16="http://schemas.microsoft.com/office/drawing/2014/main" id="{B3B8D0AE-83A5-406A-F08E-DBA8E518B29E}"/>
                </a:ext>
              </a:extLst>
            </p:cNvPr>
            <p:cNvSpPr/>
            <p:nvPr/>
          </p:nvSpPr>
          <p:spPr>
            <a:xfrm>
              <a:off x="10927080" y="4078224"/>
              <a:ext cx="310896" cy="310896"/>
            </a:xfrm>
            <a:prstGeom prst="ellipse">
              <a:avLst/>
            </a:prstGeom>
            <a:noFill/>
            <a:ln w="15240">
              <a:solidFill>
                <a:srgbClr val="805F2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6" name="Oval 21">
              <a:extLst>
                <a:ext uri="{FF2B5EF4-FFF2-40B4-BE49-F238E27FC236}">
                  <a16:creationId xmlns:a16="http://schemas.microsoft.com/office/drawing/2014/main" id="{A8BEA000-CE8C-0524-4F2C-BAF9A629AEF1}"/>
                </a:ext>
              </a:extLst>
            </p:cNvPr>
            <p:cNvSpPr/>
            <p:nvPr/>
          </p:nvSpPr>
          <p:spPr>
            <a:xfrm>
              <a:off x="11036808" y="4187952"/>
              <a:ext cx="91440" cy="91440"/>
            </a:xfrm>
            <a:prstGeom prst="ellipse">
              <a:avLst/>
            </a:prstGeom>
            <a:solidFill>
              <a:srgbClr val="805F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47" name="Connector 22">
              <a:extLst>
                <a:ext uri="{FF2B5EF4-FFF2-40B4-BE49-F238E27FC236}">
                  <a16:creationId xmlns:a16="http://schemas.microsoft.com/office/drawing/2014/main" id="{B53F8CD8-30C5-EB10-118A-DF096153DFB4}"/>
                </a:ext>
              </a:extLst>
            </p:cNvPr>
            <p:cNvCxnSpPr/>
            <p:nvPr/>
          </p:nvCxnSpPr>
          <p:spPr>
            <a:xfrm>
              <a:off x="11082528" y="4087368"/>
              <a:ext cx="0" cy="292608"/>
            </a:xfrm>
            <a:prstGeom prst="line">
              <a:avLst/>
            </a:prstGeom>
            <a:ln w="12700">
              <a:solidFill>
                <a:srgbClr val="805F2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or 23">
              <a:extLst>
                <a:ext uri="{FF2B5EF4-FFF2-40B4-BE49-F238E27FC236}">
                  <a16:creationId xmlns:a16="http://schemas.microsoft.com/office/drawing/2014/main" id="{EA404CB4-8132-942D-18A5-595E4B261565}"/>
                </a:ext>
              </a:extLst>
            </p:cNvPr>
            <p:cNvCxnSpPr/>
            <p:nvPr/>
          </p:nvCxnSpPr>
          <p:spPr>
            <a:xfrm>
              <a:off x="10936224" y="4233672"/>
              <a:ext cx="292608" cy="0"/>
            </a:xfrm>
            <a:prstGeom prst="line">
              <a:avLst/>
            </a:prstGeom>
            <a:ln w="12700">
              <a:solidFill>
                <a:srgbClr val="805F2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ctor 24">
              <a:extLst>
                <a:ext uri="{FF2B5EF4-FFF2-40B4-BE49-F238E27FC236}">
                  <a16:creationId xmlns:a16="http://schemas.microsoft.com/office/drawing/2014/main" id="{2BF040DC-69B6-713F-3915-9E25D50C67E2}"/>
                </a:ext>
              </a:extLst>
            </p:cNvPr>
            <p:cNvCxnSpPr/>
            <p:nvPr/>
          </p:nvCxnSpPr>
          <p:spPr>
            <a:xfrm>
              <a:off x="10972800" y="4123944"/>
              <a:ext cx="219456" cy="219456"/>
            </a:xfrm>
            <a:prstGeom prst="line">
              <a:avLst/>
            </a:prstGeom>
            <a:ln w="12700">
              <a:solidFill>
                <a:srgbClr val="805F2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ctor 25">
              <a:extLst>
                <a:ext uri="{FF2B5EF4-FFF2-40B4-BE49-F238E27FC236}">
                  <a16:creationId xmlns:a16="http://schemas.microsoft.com/office/drawing/2014/main" id="{D601C982-0CBF-143F-1E12-9FB4C70E5B79}"/>
                </a:ext>
              </a:extLst>
            </p:cNvPr>
            <p:cNvCxnSpPr/>
            <p:nvPr/>
          </p:nvCxnSpPr>
          <p:spPr>
            <a:xfrm flipH="1">
              <a:off x="10972800" y="4123944"/>
              <a:ext cx="219456" cy="219456"/>
            </a:xfrm>
            <a:prstGeom prst="line">
              <a:avLst/>
            </a:prstGeom>
            <a:ln w="12700">
              <a:solidFill>
                <a:srgbClr val="805F2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" name="Oval 4">
            <a:extLst>
              <a:ext uri="{FF2B5EF4-FFF2-40B4-BE49-F238E27FC236}">
                <a16:creationId xmlns:a16="http://schemas.microsoft.com/office/drawing/2014/main" id="{B91EFA5F-0053-EFD1-ECFB-90BA8926B6C0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1200" dirty="0">
                <a:solidFill>
                  <a:srgbClr val="0E3554"/>
                </a:solidFill>
                <a:latin typeface="Arial"/>
              </a:rPr>
              <a:t>3</a:t>
            </a:r>
            <a:endParaRPr sz="1200" dirty="0">
              <a:solidFill>
                <a:srgbClr val="0E3554"/>
              </a:solidFill>
              <a:latin typeface="Arial"/>
            </a:endParaRPr>
          </a:p>
        </p:txBody>
      </p:sp>
      <p:pic>
        <p:nvPicPr>
          <p:cNvPr id="163" name="Picture 3" descr="se_logo_cropped.png">
            <a:extLst>
              <a:ext uri="{FF2B5EF4-FFF2-40B4-BE49-F238E27FC236}">
                <a16:creationId xmlns:a16="http://schemas.microsoft.com/office/drawing/2014/main" id="{15811230-BF37-2390-DD59-ACAA83FE1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pic>
        <p:nvPicPr>
          <p:cNvPr id="165" name="Графіка 164">
            <a:extLst>
              <a:ext uri="{FF2B5EF4-FFF2-40B4-BE49-F238E27FC236}">
                <a16:creationId xmlns:a16="http://schemas.microsoft.com/office/drawing/2014/main" id="{9B53BD3F-49AA-9E0A-B452-59E1E40A73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1712" y="4235881"/>
            <a:ext cx="708812" cy="708812"/>
          </a:xfrm>
          <a:prstGeom prst="rect">
            <a:avLst/>
          </a:prstGeom>
        </p:spPr>
      </p:pic>
      <p:sp>
        <p:nvSpPr>
          <p:cNvPr id="166" name="Rectangle 5">
            <a:extLst>
              <a:ext uri="{FF2B5EF4-FFF2-40B4-BE49-F238E27FC236}">
                <a16:creationId xmlns:a16="http://schemas.microsoft.com/office/drawing/2014/main" id="{17DA432E-916C-A757-54AE-E5B6FC37A210}"/>
              </a:ext>
            </a:extLst>
          </p:cNvPr>
          <p:cNvSpPr/>
          <p:nvPr/>
        </p:nvSpPr>
        <p:spPr>
          <a:xfrm>
            <a:off x="228599" y="887426"/>
            <a:ext cx="960120" cy="32004"/>
          </a:xfrm>
          <a:prstGeom prst="rect">
            <a:avLst/>
          </a:prstGeom>
          <a:solidFill>
            <a:srgbClr val="F5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33040"/>
          </a:solidFill>
          <a:ln w="12700">
            <a:solidFill>
              <a:srgbClr val="2330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347472" y="29260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04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Ідея </a:t>
            </a:r>
            <a:r>
              <a:rPr lang="en-US" sz="2800" b="1" dirty="0" err="1">
                <a:solidFill>
                  <a:srgbClr val="23304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системи</a:t>
            </a:r>
            <a:r>
              <a:rPr lang="en-US" sz="2800" b="1" dirty="0">
                <a:solidFill>
                  <a:srgbClr val="23304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23304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PhysioAssist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7955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97586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Повний шлях від IoT-даних до дії користувача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1188720" cy="41148"/>
          </a:xfrm>
          <a:prstGeom prst="rect">
            <a:avLst/>
          </a:prstGeom>
          <a:solidFill>
            <a:srgbClr val="F57829"/>
          </a:solidFill>
          <a:ln w="12700">
            <a:solidFill>
              <a:srgbClr val="F5782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1005840" y="148132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3304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Autonexis перетворює телеметрію автомобіля на зрозумілий стан, попередження та сервісну дію.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600200" cy="193852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4DBE3"/>
            </a:solidFill>
            <a:prstDash val="solid"/>
          </a:ln>
          <a:effectLst>
            <a:outerShdw blurRad="25400" dist="50800" dir="2700000" algn="bl" rotWithShape="0">
              <a:srgbClr val="8A96A3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9" name="Shape 7"/>
          <p:cNvSpPr/>
          <p:nvPr/>
        </p:nvSpPr>
        <p:spPr>
          <a:xfrm>
            <a:off x="685800" y="2496312"/>
            <a:ext cx="54864" cy="0"/>
          </a:xfrm>
          <a:prstGeom prst="line">
            <a:avLst/>
          </a:prstGeom>
          <a:noFill/>
          <a:ln w="12700">
            <a:solidFill>
              <a:srgbClr val="087D99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Shape 8"/>
          <p:cNvSpPr/>
          <p:nvPr/>
        </p:nvSpPr>
        <p:spPr>
          <a:xfrm>
            <a:off x="1289304" y="2496312"/>
            <a:ext cx="54864" cy="0"/>
          </a:xfrm>
          <a:prstGeom prst="line">
            <a:avLst/>
          </a:prstGeom>
          <a:noFill/>
          <a:ln w="12700">
            <a:solidFill>
              <a:srgbClr val="087D99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Shape 9"/>
          <p:cNvSpPr/>
          <p:nvPr/>
        </p:nvSpPr>
        <p:spPr>
          <a:xfrm>
            <a:off x="685800" y="2596896"/>
            <a:ext cx="54864" cy="0"/>
          </a:xfrm>
          <a:prstGeom prst="line">
            <a:avLst/>
          </a:prstGeom>
          <a:noFill/>
          <a:ln w="12700">
            <a:solidFill>
              <a:srgbClr val="087D99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Shape 10"/>
          <p:cNvSpPr/>
          <p:nvPr/>
        </p:nvSpPr>
        <p:spPr>
          <a:xfrm>
            <a:off x="1289304" y="2596896"/>
            <a:ext cx="54864" cy="0"/>
          </a:xfrm>
          <a:prstGeom prst="line">
            <a:avLst/>
          </a:prstGeom>
          <a:noFill/>
          <a:ln w="12700">
            <a:solidFill>
              <a:srgbClr val="087D99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Shape 11"/>
          <p:cNvSpPr/>
          <p:nvPr/>
        </p:nvSpPr>
        <p:spPr>
          <a:xfrm>
            <a:off x="685800" y="2697480"/>
            <a:ext cx="54864" cy="0"/>
          </a:xfrm>
          <a:prstGeom prst="line">
            <a:avLst/>
          </a:prstGeom>
          <a:noFill/>
          <a:ln w="12700">
            <a:solidFill>
              <a:srgbClr val="087D99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Shape 12"/>
          <p:cNvSpPr/>
          <p:nvPr/>
        </p:nvSpPr>
        <p:spPr>
          <a:xfrm>
            <a:off x="1289304" y="2697480"/>
            <a:ext cx="54864" cy="0"/>
          </a:xfrm>
          <a:prstGeom prst="line">
            <a:avLst/>
          </a:prstGeom>
          <a:noFill/>
          <a:ln w="12700">
            <a:solidFill>
              <a:srgbClr val="087D99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5" name="Shape 13"/>
          <p:cNvSpPr/>
          <p:nvPr/>
        </p:nvSpPr>
        <p:spPr>
          <a:xfrm>
            <a:off x="685800" y="2798064"/>
            <a:ext cx="54864" cy="0"/>
          </a:xfrm>
          <a:prstGeom prst="line">
            <a:avLst/>
          </a:prstGeom>
          <a:noFill/>
          <a:ln w="12700">
            <a:solidFill>
              <a:srgbClr val="087D99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6" name="Shape 14"/>
          <p:cNvSpPr/>
          <p:nvPr/>
        </p:nvSpPr>
        <p:spPr>
          <a:xfrm>
            <a:off x="1289304" y="2798064"/>
            <a:ext cx="54864" cy="0"/>
          </a:xfrm>
          <a:prstGeom prst="line">
            <a:avLst/>
          </a:prstGeom>
          <a:noFill/>
          <a:ln w="12700">
            <a:solidFill>
              <a:srgbClr val="087D99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704088" y="3099816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304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React Web-app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04088" y="3611880"/>
            <a:ext cx="1271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r>
              <a:rPr lang="ru-RU" sz="14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Фіксація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виконання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вправ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sz="14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суб'єктивного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рівня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болю </a:t>
            </a:r>
            <a:r>
              <a:rPr lang="ru-RU" sz="14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пацієнтом</a:t>
            </a:r>
            <a:endParaRPr lang="en-US" sz="128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834640" y="2148840"/>
            <a:ext cx="1600200" cy="193852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4DBE3"/>
            </a:solidFill>
            <a:prstDash val="solid"/>
          </a:ln>
          <a:effectLst>
            <a:outerShdw blurRad="25400" dist="50800" dir="2700000" algn="bl" rotWithShape="0">
              <a:srgbClr val="8A96A3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3" name="Text 21"/>
          <p:cNvSpPr/>
          <p:nvPr/>
        </p:nvSpPr>
        <p:spPr>
          <a:xfrm>
            <a:off x="3182112" y="2505456"/>
            <a:ext cx="2633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045255" y="3009354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304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Django REST API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999232" y="3618694"/>
            <a:ext cx="1271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Маршрутизація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запитів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JWT-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автентифікація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валідація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отриманих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даних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120640" y="2093976"/>
            <a:ext cx="1828800" cy="20482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1590">
            <a:solidFill>
              <a:srgbClr val="12AFCF"/>
            </a:solidFill>
            <a:prstDash val="solid"/>
          </a:ln>
          <a:effectLst>
            <a:outerShdw blurRad="25400" dist="50800" dir="2700000" algn="bl" rotWithShape="0">
              <a:srgbClr val="8A96A3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8" name="Shape 26"/>
          <p:cNvSpPr/>
          <p:nvPr/>
        </p:nvSpPr>
        <p:spPr>
          <a:xfrm>
            <a:off x="5413248" y="2363724"/>
            <a:ext cx="45720" cy="45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0" name="Shape 28"/>
          <p:cNvSpPr/>
          <p:nvPr/>
        </p:nvSpPr>
        <p:spPr>
          <a:xfrm>
            <a:off x="5413248" y="2505456"/>
            <a:ext cx="45720" cy="45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grpSp>
        <p:nvGrpSpPr>
          <p:cNvPr id="82" name="Групувати 81">
            <a:extLst>
              <a:ext uri="{FF2B5EF4-FFF2-40B4-BE49-F238E27FC236}">
                <a16:creationId xmlns:a16="http://schemas.microsoft.com/office/drawing/2014/main" id="{37984B2A-F0CF-8077-F83E-E617BADF692A}"/>
              </a:ext>
            </a:extLst>
          </p:cNvPr>
          <p:cNvGrpSpPr/>
          <p:nvPr/>
        </p:nvGrpSpPr>
        <p:grpSpPr>
          <a:xfrm>
            <a:off x="5358384" y="2441448"/>
            <a:ext cx="411480" cy="393192"/>
            <a:chOff x="5358384" y="2331720"/>
            <a:chExt cx="411480" cy="393192"/>
          </a:xfrm>
        </p:grpSpPr>
        <p:grpSp>
          <p:nvGrpSpPr>
            <p:cNvPr id="81" name="Групувати 80">
              <a:extLst>
                <a:ext uri="{FF2B5EF4-FFF2-40B4-BE49-F238E27FC236}">
                  <a16:creationId xmlns:a16="http://schemas.microsoft.com/office/drawing/2014/main" id="{282FFCB5-A7E7-43B6-8208-2EF42C7AA164}"/>
                </a:ext>
              </a:extLst>
            </p:cNvPr>
            <p:cNvGrpSpPr/>
            <p:nvPr/>
          </p:nvGrpSpPr>
          <p:grpSpPr>
            <a:xfrm>
              <a:off x="5358384" y="2331720"/>
              <a:ext cx="411480" cy="393192"/>
              <a:chOff x="5358384" y="2331720"/>
              <a:chExt cx="411480" cy="393192"/>
            </a:xfrm>
          </p:grpSpPr>
          <p:sp>
            <p:nvSpPr>
              <p:cNvPr id="27" name="Shape 25"/>
              <p:cNvSpPr/>
              <p:nvPr/>
            </p:nvSpPr>
            <p:spPr>
              <a:xfrm>
                <a:off x="5358384" y="2331720"/>
                <a:ext cx="411480" cy="109728"/>
              </a:xfrm>
              <a:prstGeom prst="roundRect">
                <a:avLst>
                  <a:gd name="adj" fmla="val 25000"/>
                </a:avLst>
              </a:prstGeom>
              <a:solidFill>
                <a:srgbClr val="0B2D4B"/>
              </a:solidFill>
              <a:ln w="12700">
                <a:solidFill>
                  <a:srgbClr val="0B2D4B"/>
                </a:solidFill>
                <a:prstDash val="solid"/>
              </a:ln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29" name="Shape 27"/>
              <p:cNvSpPr/>
              <p:nvPr/>
            </p:nvSpPr>
            <p:spPr>
              <a:xfrm>
                <a:off x="5358384" y="2473452"/>
                <a:ext cx="411480" cy="109728"/>
              </a:xfrm>
              <a:prstGeom prst="roundRect">
                <a:avLst>
                  <a:gd name="adj" fmla="val 25000"/>
                </a:avLst>
              </a:prstGeom>
              <a:solidFill>
                <a:srgbClr val="0B2D4B"/>
              </a:solidFill>
              <a:ln w="12700">
                <a:solidFill>
                  <a:srgbClr val="0B2D4B"/>
                </a:solidFill>
                <a:prstDash val="solid"/>
              </a:ln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31" name="Shape 29"/>
              <p:cNvSpPr/>
              <p:nvPr/>
            </p:nvSpPr>
            <p:spPr>
              <a:xfrm>
                <a:off x="5358384" y="2615184"/>
                <a:ext cx="411480" cy="109728"/>
              </a:xfrm>
              <a:prstGeom prst="roundRect">
                <a:avLst>
                  <a:gd name="adj" fmla="val 25000"/>
                </a:avLst>
              </a:prstGeom>
              <a:solidFill>
                <a:srgbClr val="0B2D4B"/>
              </a:solidFill>
              <a:ln w="12700">
                <a:solidFill>
                  <a:srgbClr val="0B2D4B"/>
                </a:solidFill>
                <a:prstDash val="solid"/>
              </a:ln>
            </p:spPr>
            <p:txBody>
              <a:bodyPr/>
              <a:lstStyle/>
              <a:p>
                <a:endParaRPr lang="uk-UA"/>
              </a:p>
            </p:txBody>
          </p:sp>
        </p:grpSp>
        <p:sp>
          <p:nvSpPr>
            <p:cNvPr id="32" name="Shape 30"/>
            <p:cNvSpPr/>
            <p:nvPr/>
          </p:nvSpPr>
          <p:spPr>
            <a:xfrm>
              <a:off x="5413248" y="2647188"/>
              <a:ext cx="45720" cy="457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35" name="Text 33"/>
          <p:cNvSpPr/>
          <p:nvPr/>
        </p:nvSpPr>
        <p:spPr>
          <a:xfrm>
            <a:off x="5321808" y="3044952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uk-UA" sz="1800" b="1" dirty="0">
                <a:solidFill>
                  <a:srgbClr val="233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Бізнес-логіка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321808" y="3557016"/>
            <a:ext cx="14996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Обробка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показників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розрахунок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динаміки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одужання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79792" y="2148840"/>
            <a:ext cx="1600200" cy="193852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4DBE3"/>
            </a:solidFill>
            <a:prstDash val="solid"/>
          </a:ln>
          <a:effectLst>
            <a:outerShdw blurRad="25400" dist="50800" dir="2700000" algn="bl" rotWithShape="0">
              <a:srgbClr val="8A96A3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38" name="Shape 36"/>
          <p:cNvSpPr/>
          <p:nvPr/>
        </p:nvSpPr>
        <p:spPr>
          <a:xfrm>
            <a:off x="7717536" y="2386584"/>
            <a:ext cx="427939" cy="395021"/>
          </a:xfrm>
          <a:prstGeom prst="can">
            <a:avLst/>
          </a:prstGeom>
          <a:solidFill>
            <a:srgbClr val="12AFCF"/>
          </a:solidFill>
          <a:ln w="12700">
            <a:solidFill>
              <a:srgbClr val="087D99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0" name="Shape 38"/>
          <p:cNvSpPr/>
          <p:nvPr/>
        </p:nvSpPr>
        <p:spPr>
          <a:xfrm>
            <a:off x="7754112" y="2752344"/>
            <a:ext cx="384048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1" name="Text 39"/>
          <p:cNvSpPr/>
          <p:nvPr/>
        </p:nvSpPr>
        <p:spPr>
          <a:xfrm>
            <a:off x="7646827" y="2865896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304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PostgreSQL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690104" y="3472258"/>
            <a:ext cx="1271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Надійне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структуроване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збереження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історії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тренувань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профілів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користувачів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948672" y="2148840"/>
            <a:ext cx="1600200" cy="193852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4DBE3"/>
            </a:solidFill>
            <a:prstDash val="solid"/>
          </a:ln>
          <a:effectLst>
            <a:outerShdw blurRad="25400" dist="50800" dir="2700000" algn="bl" rotWithShape="0">
              <a:srgbClr val="8A96A3">
                <a:alpha val="1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44" name="Shape 42"/>
          <p:cNvSpPr/>
          <p:nvPr/>
        </p:nvSpPr>
        <p:spPr>
          <a:xfrm>
            <a:off x="10186416" y="2459736"/>
            <a:ext cx="384048" cy="252374"/>
          </a:xfrm>
          <a:prstGeom prst="roundRect">
            <a:avLst>
              <a:gd name="adj" fmla="val 7246"/>
            </a:avLst>
          </a:prstGeom>
          <a:solidFill>
            <a:srgbClr val="FFFFFF">
              <a:alpha val="0"/>
            </a:srgbClr>
          </a:solidFill>
          <a:ln w="27940">
            <a:solidFill>
              <a:srgbClr val="12AFCF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5" name="Shape 43"/>
          <p:cNvSpPr/>
          <p:nvPr/>
        </p:nvSpPr>
        <p:spPr>
          <a:xfrm>
            <a:off x="10378440" y="2688336"/>
            <a:ext cx="0" cy="65837"/>
          </a:xfrm>
          <a:prstGeom prst="line">
            <a:avLst/>
          </a:prstGeom>
          <a:noFill/>
          <a:ln w="25400">
            <a:solidFill>
              <a:srgbClr val="12AFCF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6" name="Shape 44"/>
          <p:cNvSpPr/>
          <p:nvPr/>
        </p:nvSpPr>
        <p:spPr>
          <a:xfrm>
            <a:off x="10307117" y="2754173"/>
            <a:ext cx="153619" cy="0"/>
          </a:xfrm>
          <a:prstGeom prst="line">
            <a:avLst/>
          </a:prstGeom>
          <a:noFill/>
          <a:ln w="25400">
            <a:solidFill>
              <a:srgbClr val="12AFCF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8" name="Shape 46"/>
          <p:cNvSpPr/>
          <p:nvPr/>
        </p:nvSpPr>
        <p:spPr>
          <a:xfrm>
            <a:off x="10554005" y="2693822"/>
            <a:ext cx="32004" cy="32004"/>
          </a:xfrm>
          <a:prstGeom prst="ellipse">
            <a:avLst/>
          </a:prstGeom>
          <a:solidFill>
            <a:srgbClr val="12AFCF"/>
          </a:solidFill>
          <a:ln w="12700">
            <a:solidFill>
              <a:srgbClr val="12AF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9" name="Text 47"/>
          <p:cNvSpPr/>
          <p:nvPr/>
        </p:nvSpPr>
        <p:spPr>
          <a:xfrm>
            <a:off x="10123932" y="3036815"/>
            <a:ext cx="1271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304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Web </a:t>
            </a:r>
            <a:r>
              <a:rPr lang="uk-UA" sz="1800" b="1" dirty="0">
                <a:solidFill>
                  <a:srgbClr val="233040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панель терапевта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0149840" y="3611880"/>
            <a:ext cx="1271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Візуалізація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результатів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вигляді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інтерактивних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графіків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для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оцінки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стану.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2267712" y="3108960"/>
            <a:ext cx="402336" cy="0"/>
          </a:xfrm>
          <a:prstGeom prst="line">
            <a:avLst/>
          </a:prstGeom>
          <a:noFill/>
          <a:ln w="31750">
            <a:solidFill>
              <a:srgbClr val="AEB8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53" name="Shape 51"/>
          <p:cNvSpPr/>
          <p:nvPr/>
        </p:nvSpPr>
        <p:spPr>
          <a:xfrm>
            <a:off x="4617720" y="3108960"/>
            <a:ext cx="320040" cy="0"/>
          </a:xfrm>
          <a:prstGeom prst="line">
            <a:avLst/>
          </a:prstGeom>
          <a:noFill/>
          <a:ln w="31750">
            <a:solidFill>
              <a:srgbClr val="AEB8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54" name="Shape 52"/>
          <p:cNvSpPr/>
          <p:nvPr/>
        </p:nvSpPr>
        <p:spPr>
          <a:xfrm>
            <a:off x="7132320" y="3108960"/>
            <a:ext cx="274320" cy="0"/>
          </a:xfrm>
          <a:prstGeom prst="line">
            <a:avLst/>
          </a:prstGeom>
          <a:noFill/>
          <a:ln w="31750">
            <a:solidFill>
              <a:srgbClr val="AEB8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55" name="Shape 53"/>
          <p:cNvSpPr/>
          <p:nvPr/>
        </p:nvSpPr>
        <p:spPr>
          <a:xfrm>
            <a:off x="9244584" y="3108960"/>
            <a:ext cx="539496" cy="0"/>
          </a:xfrm>
          <a:prstGeom prst="line">
            <a:avLst/>
          </a:prstGeom>
          <a:noFill/>
          <a:ln w="31750">
            <a:solidFill>
              <a:srgbClr val="AEB8C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63" name="Shape 61"/>
          <p:cNvSpPr/>
          <p:nvPr/>
        </p:nvSpPr>
        <p:spPr>
          <a:xfrm>
            <a:off x="1264981" y="5808269"/>
            <a:ext cx="46086" cy="46086"/>
          </a:xfrm>
          <a:prstGeom prst="ellipse">
            <a:avLst/>
          </a:prstGeom>
          <a:solidFill>
            <a:srgbClr val="12AFCF"/>
          </a:solidFill>
          <a:ln w="12700">
            <a:solidFill>
              <a:srgbClr val="12AF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4" name="Shape 62"/>
          <p:cNvSpPr/>
          <p:nvPr/>
        </p:nvSpPr>
        <p:spPr>
          <a:xfrm>
            <a:off x="1395557" y="5808269"/>
            <a:ext cx="46086" cy="46086"/>
          </a:xfrm>
          <a:prstGeom prst="ellipse">
            <a:avLst/>
          </a:prstGeom>
          <a:solidFill>
            <a:srgbClr val="12AFCF"/>
          </a:solidFill>
          <a:ln w="12700">
            <a:solidFill>
              <a:srgbClr val="12AFC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4" name="Text 72"/>
          <p:cNvSpPr/>
          <p:nvPr/>
        </p:nvSpPr>
        <p:spPr>
          <a:xfrm>
            <a:off x="8439546" y="5712257"/>
            <a:ext cx="92172" cy="1075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buNone/>
            </a:pPr>
            <a:endParaRPr lang="en-US" sz="1400" dirty="0"/>
          </a:p>
        </p:txBody>
      </p:sp>
      <p:grpSp>
        <p:nvGrpSpPr>
          <p:cNvPr id="92" name="Групувати 91">
            <a:extLst>
              <a:ext uri="{FF2B5EF4-FFF2-40B4-BE49-F238E27FC236}">
                <a16:creationId xmlns:a16="http://schemas.microsoft.com/office/drawing/2014/main" id="{1A4A8FEA-5AC0-4AE3-D14E-5E5A5ABCAF74}"/>
              </a:ext>
            </a:extLst>
          </p:cNvPr>
          <p:cNvGrpSpPr/>
          <p:nvPr/>
        </p:nvGrpSpPr>
        <p:grpSpPr>
          <a:xfrm>
            <a:off x="658368" y="4460443"/>
            <a:ext cx="10863072" cy="1417320"/>
            <a:chOff x="658368" y="4800600"/>
            <a:chExt cx="10863072" cy="1417320"/>
          </a:xfrm>
        </p:grpSpPr>
        <p:sp>
          <p:nvSpPr>
            <p:cNvPr id="57" name="Shape 55"/>
            <p:cNvSpPr/>
            <p:nvPr/>
          </p:nvSpPr>
          <p:spPr>
            <a:xfrm>
              <a:off x="658368" y="4800600"/>
              <a:ext cx="10863072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2700">
              <a:solidFill>
                <a:srgbClr val="D4DBE3"/>
              </a:solidFill>
              <a:prstDash val="solid"/>
            </a:ln>
            <a:effectLst>
              <a:outerShdw blurRad="25400" dist="50800" dir="2700000" algn="bl" rotWithShape="0">
                <a:srgbClr val="8A96A3">
                  <a:alpha val="18000"/>
                </a:srgbClr>
              </a:outerShdw>
            </a:effectLst>
          </p:spPr>
          <p:txBody>
            <a:bodyPr/>
            <a:lstStyle/>
            <a:p>
              <a:endParaRPr lang="uk-UA"/>
            </a:p>
          </p:txBody>
        </p:sp>
        <p:sp>
          <p:nvSpPr>
            <p:cNvPr id="58" name="Text 56"/>
            <p:cNvSpPr/>
            <p:nvPr/>
          </p:nvSpPr>
          <p:spPr>
            <a:xfrm>
              <a:off x="960120" y="4974336"/>
              <a:ext cx="3474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23304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Результат для користувача</a:t>
              </a:r>
              <a:endParaRPr lang="en-US" sz="2000" dirty="0"/>
            </a:p>
          </p:txBody>
        </p:sp>
        <p:grpSp>
          <p:nvGrpSpPr>
            <p:cNvPr id="90" name="Групувати 89">
              <a:extLst>
                <a:ext uri="{FF2B5EF4-FFF2-40B4-BE49-F238E27FC236}">
                  <a16:creationId xmlns:a16="http://schemas.microsoft.com/office/drawing/2014/main" id="{155FB0CB-358A-BA74-573E-3132C731C1A4}"/>
                </a:ext>
              </a:extLst>
            </p:cNvPr>
            <p:cNvGrpSpPr/>
            <p:nvPr/>
          </p:nvGrpSpPr>
          <p:grpSpPr>
            <a:xfrm>
              <a:off x="4498848" y="5486400"/>
              <a:ext cx="3291840" cy="566928"/>
              <a:chOff x="4498848" y="5486400"/>
              <a:chExt cx="3291840" cy="566928"/>
            </a:xfrm>
          </p:grpSpPr>
          <p:sp>
            <p:nvSpPr>
              <p:cNvPr id="66" name="Shape 64"/>
              <p:cNvSpPr/>
              <p:nvPr/>
            </p:nvSpPr>
            <p:spPr>
              <a:xfrm>
                <a:off x="4498848" y="5486400"/>
                <a:ext cx="3291840" cy="566928"/>
              </a:xfrm>
              <a:prstGeom prst="roundRect">
                <a:avLst>
                  <a:gd name="adj" fmla="val 14516"/>
                </a:avLst>
              </a:prstGeom>
              <a:solidFill>
                <a:srgbClr val="FFF1E8"/>
              </a:solidFill>
              <a:ln w="12700">
                <a:solidFill>
                  <a:srgbClr val="F57829">
                    <a:alpha val="60000"/>
                  </a:srgbClr>
                </a:solidFill>
                <a:prstDash val="solid"/>
              </a:ln>
              <a:effectLst>
                <a:outerShdw blurRad="12700" dist="50800" dir="2700000" algn="bl" rotWithShape="0">
                  <a:srgbClr val="8A96A3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67" name="Shape 65"/>
              <p:cNvSpPr/>
              <p:nvPr/>
            </p:nvSpPr>
            <p:spPr>
              <a:xfrm>
                <a:off x="4663440" y="5577840"/>
                <a:ext cx="384048" cy="384048"/>
              </a:xfrm>
              <a:prstGeom prst="ellipse">
                <a:avLst/>
              </a:prstGeom>
              <a:solidFill>
                <a:srgbClr val="F57829"/>
              </a:solidFill>
              <a:ln w="12700">
                <a:solidFill>
                  <a:srgbClr val="F57829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68" name="Text 66"/>
              <p:cNvSpPr/>
              <p:nvPr/>
            </p:nvSpPr>
            <p:spPr>
              <a:xfrm>
                <a:off x="4810841" y="5662331"/>
                <a:ext cx="107533" cy="27450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85000" lnSpcReduction="20000"/>
              </a:bodyPr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FFFFF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!</a:t>
                </a:r>
                <a:endParaRPr lang="en-US" sz="2400" dirty="0"/>
              </a:p>
            </p:txBody>
          </p:sp>
          <p:sp>
            <p:nvSpPr>
              <p:cNvPr id="69" name="Text 67"/>
              <p:cNvSpPr/>
              <p:nvPr/>
            </p:nvSpPr>
            <p:spPr>
              <a:xfrm>
                <a:off x="5212080" y="5632704"/>
                <a:ext cx="2450592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77500" lnSpcReduction="20000"/>
              </a:bodyPr>
              <a:lstStyle/>
              <a:p>
                <a:pPr marL="0" indent="0" algn="l">
                  <a:buNone/>
                </a:pPr>
                <a:r>
                  <a:rPr lang="en-US" sz="1550" b="1" dirty="0" err="1">
                    <a:solidFill>
                      <a:srgbClr val="233040"/>
                    </a:solidFill>
                    <a:latin typeface="Arial" panose="020B0604020202020204" pitchFamily="34" charset="0"/>
                    <a:ea typeface="Aptos" pitchFamily="34" charset="-122"/>
                    <a:cs typeface="Arial" panose="020B0604020202020204" pitchFamily="34" charset="0"/>
                  </a:rPr>
                  <a:t>попередження</a:t>
                </a:r>
                <a:r>
                  <a:rPr lang="en-US" sz="1550" b="1" dirty="0">
                    <a:solidFill>
                      <a:srgbClr val="233040"/>
                    </a:solidFill>
                    <a:latin typeface="Arial" panose="020B0604020202020204" pitchFamily="34" charset="0"/>
                    <a:ea typeface="Aptos" pitchFamily="34" charset="-122"/>
                    <a:cs typeface="Arial" panose="020B0604020202020204" pitchFamily="34" charset="0"/>
                  </a:rPr>
                  <a:t> </a:t>
                </a:r>
                <a:r>
                  <a:rPr lang="uk-UA" sz="1550" b="1" dirty="0">
                    <a:solidFill>
                      <a:srgbClr val="233040"/>
                    </a:solidFill>
                    <a:latin typeface="Arial" panose="020B0604020202020204" pitchFamily="34" charset="0"/>
                    <a:ea typeface="Aptos" pitchFamily="34" charset="-122"/>
                    <a:cs typeface="Arial" panose="020B0604020202020204" pitchFamily="34" charset="0"/>
                  </a:rPr>
                  <a:t>про ускладнення</a:t>
                </a:r>
                <a:endParaRPr lang="en-US" sz="15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91" name="Групувати 90">
              <a:extLst>
                <a:ext uri="{FF2B5EF4-FFF2-40B4-BE49-F238E27FC236}">
                  <a16:creationId xmlns:a16="http://schemas.microsoft.com/office/drawing/2014/main" id="{A0AB7634-3402-904C-7837-4DB6DFD53335}"/>
                </a:ext>
              </a:extLst>
            </p:cNvPr>
            <p:cNvGrpSpPr/>
            <p:nvPr/>
          </p:nvGrpSpPr>
          <p:grpSpPr>
            <a:xfrm>
              <a:off x="8092440" y="5486400"/>
              <a:ext cx="2971800" cy="566928"/>
              <a:chOff x="8092440" y="5486400"/>
              <a:chExt cx="2971800" cy="566928"/>
            </a:xfrm>
          </p:grpSpPr>
          <p:sp>
            <p:nvSpPr>
              <p:cNvPr id="70" name="Shape 68"/>
              <p:cNvSpPr/>
              <p:nvPr/>
            </p:nvSpPr>
            <p:spPr>
              <a:xfrm>
                <a:off x="8092440" y="5486400"/>
                <a:ext cx="2971800" cy="566928"/>
              </a:xfrm>
              <a:prstGeom prst="roundRect">
                <a:avLst>
                  <a:gd name="adj" fmla="val 14516"/>
                </a:avLst>
              </a:prstGeom>
              <a:solidFill>
                <a:srgbClr val="E9F8FB"/>
              </a:solidFill>
              <a:ln w="12700">
                <a:solidFill>
                  <a:srgbClr val="12AFCF">
                    <a:alpha val="60000"/>
                  </a:srgbClr>
                </a:solidFill>
                <a:prstDash val="solid"/>
              </a:ln>
              <a:effectLst>
                <a:outerShdw blurRad="12700" dist="50800" dir="2700000" algn="bl" rotWithShape="0">
                  <a:srgbClr val="8A96A3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71" name="Shape 69"/>
              <p:cNvSpPr/>
              <p:nvPr/>
            </p:nvSpPr>
            <p:spPr>
              <a:xfrm>
                <a:off x="8293608" y="5577840"/>
                <a:ext cx="384048" cy="384048"/>
              </a:xfrm>
              <a:prstGeom prst="ellipse">
                <a:avLst/>
              </a:prstGeom>
              <a:solidFill>
                <a:srgbClr val="12AFCF"/>
              </a:solidFill>
              <a:ln w="12700">
                <a:solidFill>
                  <a:srgbClr val="12AFC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72" name="Shape 70"/>
              <p:cNvSpPr/>
              <p:nvPr/>
            </p:nvSpPr>
            <p:spPr>
              <a:xfrm>
                <a:off x="8408822" y="5662331"/>
                <a:ext cx="153619" cy="199705"/>
              </a:xfrm>
              <a:prstGeom prst="roundRect">
                <a:avLst>
                  <a:gd name="adj" fmla="val 17857"/>
                </a:avLst>
              </a:prstGeom>
              <a:solidFill>
                <a:srgbClr val="FFFFFF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73" name="Shape 71"/>
              <p:cNvSpPr/>
              <p:nvPr/>
            </p:nvSpPr>
            <p:spPr>
              <a:xfrm>
                <a:off x="8443387" y="5639288"/>
                <a:ext cx="84491" cy="46086"/>
              </a:xfrm>
              <a:prstGeom prst="roundRect">
                <a:avLst>
                  <a:gd name="adj" fmla="val 79365"/>
                </a:avLst>
              </a:prstGeom>
              <a:solidFill>
                <a:srgbClr val="FFFFFF"/>
              </a:solidFill>
              <a:ln w="12700">
                <a:solidFill>
                  <a:srgbClr val="12AFCF"/>
                </a:solidFill>
                <a:prstDash val="solid"/>
              </a:ln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75" name="Text 73"/>
              <p:cNvSpPr/>
              <p:nvPr/>
            </p:nvSpPr>
            <p:spPr>
              <a:xfrm>
                <a:off x="8805672" y="5632704"/>
                <a:ext cx="2130552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 fontScale="92500"/>
              </a:bodyPr>
              <a:lstStyle/>
              <a:p>
                <a:pPr marL="0" indent="0" algn="l">
                  <a:buNone/>
                </a:pPr>
                <a:r>
                  <a:rPr lang="uk-UA" sz="1550" b="1" dirty="0">
                    <a:solidFill>
                      <a:srgbClr val="233040"/>
                    </a:solidFill>
                    <a:latin typeface="Arial" panose="020B0604020202020204" pitchFamily="34" charset="0"/>
                    <a:ea typeface="Aptos" pitchFamily="34" charset="-122"/>
                    <a:cs typeface="Arial" panose="020B0604020202020204" pitchFamily="34" charset="0"/>
                  </a:rPr>
                  <a:t>Коригування програми</a:t>
                </a:r>
                <a:endParaRPr lang="en-US" sz="15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9" name="Групувати 88">
              <a:extLst>
                <a:ext uri="{FF2B5EF4-FFF2-40B4-BE49-F238E27FC236}">
                  <a16:creationId xmlns:a16="http://schemas.microsoft.com/office/drawing/2014/main" id="{CEF1E87C-1212-23B2-6618-428A07E1801D}"/>
                </a:ext>
              </a:extLst>
            </p:cNvPr>
            <p:cNvGrpSpPr/>
            <p:nvPr/>
          </p:nvGrpSpPr>
          <p:grpSpPr>
            <a:xfrm>
              <a:off x="960120" y="5486400"/>
              <a:ext cx="3246120" cy="566928"/>
              <a:chOff x="960120" y="5486400"/>
              <a:chExt cx="3246120" cy="566928"/>
            </a:xfrm>
          </p:grpSpPr>
          <p:sp>
            <p:nvSpPr>
              <p:cNvPr id="59" name="Shape 57"/>
              <p:cNvSpPr/>
              <p:nvPr/>
            </p:nvSpPr>
            <p:spPr>
              <a:xfrm>
                <a:off x="960120" y="5486400"/>
                <a:ext cx="3246120" cy="566928"/>
              </a:xfrm>
              <a:prstGeom prst="roundRect">
                <a:avLst>
                  <a:gd name="adj" fmla="val 14516"/>
                </a:avLst>
              </a:prstGeom>
              <a:solidFill>
                <a:srgbClr val="E9F8FB"/>
              </a:solidFill>
              <a:ln w="12700">
                <a:solidFill>
                  <a:srgbClr val="12AFCF">
                    <a:alpha val="60000"/>
                  </a:srgbClr>
                </a:solidFill>
                <a:prstDash val="solid"/>
              </a:ln>
              <a:effectLst>
                <a:outerShdw blurRad="12700" dist="50800" dir="2700000" algn="bl" rotWithShape="0">
                  <a:srgbClr val="8A96A3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uk-UA" dirty="0"/>
              </a:p>
            </p:txBody>
          </p:sp>
          <p:sp>
            <p:nvSpPr>
              <p:cNvPr id="60" name="Shape 58"/>
              <p:cNvSpPr/>
              <p:nvPr/>
            </p:nvSpPr>
            <p:spPr>
              <a:xfrm>
                <a:off x="1203533" y="5566586"/>
                <a:ext cx="384048" cy="384048"/>
              </a:xfrm>
              <a:prstGeom prst="ellipse">
                <a:avLst/>
              </a:prstGeom>
              <a:solidFill>
                <a:srgbClr val="12AFCF"/>
              </a:solidFill>
              <a:ln w="12700">
                <a:solidFill>
                  <a:srgbClr val="12AFC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uk-UA" dirty="0"/>
              </a:p>
            </p:txBody>
          </p:sp>
          <p:sp>
            <p:nvSpPr>
              <p:cNvPr id="65" name="Text 63"/>
              <p:cNvSpPr/>
              <p:nvPr/>
            </p:nvSpPr>
            <p:spPr>
              <a:xfrm>
                <a:off x="1673352" y="5632704"/>
                <a:ext cx="2404872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l">
                  <a:buNone/>
                </a:pPr>
                <a:r>
                  <a:rPr lang="uk-UA" sz="1550" b="1" dirty="0">
                    <a:solidFill>
                      <a:srgbClr val="233040"/>
                    </a:solidFill>
                    <a:latin typeface="Arial" panose="020B0604020202020204" pitchFamily="34" charset="0"/>
                    <a:ea typeface="Aptos" pitchFamily="34" charset="-122"/>
                    <a:cs typeface="Arial" panose="020B0604020202020204" pitchFamily="34" charset="0"/>
                  </a:rPr>
                  <a:t>Динаміка відновлення</a:t>
                </a:r>
                <a:endParaRPr lang="en-US" sz="15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87" name="Picture 3" descr="se_logo_cropped.png">
            <a:extLst>
              <a:ext uri="{FF2B5EF4-FFF2-40B4-BE49-F238E27FC236}">
                <a16:creationId xmlns:a16="http://schemas.microsoft.com/office/drawing/2014/main" id="{5FEEC464-6010-5260-1D77-38B2BCFFD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sp>
        <p:nvSpPr>
          <p:cNvPr id="93" name="Oval 4">
            <a:extLst>
              <a:ext uri="{FF2B5EF4-FFF2-40B4-BE49-F238E27FC236}">
                <a16:creationId xmlns:a16="http://schemas.microsoft.com/office/drawing/2014/main" id="{5E8E5254-DAAA-D382-1280-CEB876691FC6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E3554"/>
                </a:solidFill>
                <a:latin typeface="Arial"/>
              </a:rPr>
              <a:t>4</a:t>
            </a:r>
            <a:endParaRPr sz="1200" dirty="0">
              <a:solidFill>
                <a:srgbClr val="0E3554"/>
              </a:solidFill>
              <a:latin typeface="Arial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0E9FDAF-1173-F5D9-4E6B-9D51F3326DAE}"/>
              </a:ext>
            </a:extLst>
          </p:cNvPr>
          <p:cNvSpPr txBox="1"/>
          <p:nvPr/>
        </p:nvSpPr>
        <p:spPr>
          <a:xfrm>
            <a:off x="8951976" y="2667693"/>
            <a:ext cx="11719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uk-UA" sz="1200" b="1" dirty="0">
                <a:solidFill>
                  <a:srgbClr val="697586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Дані аналітики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1E3B8BE-035C-CB42-CEF4-869814569162}"/>
              </a:ext>
            </a:extLst>
          </p:cNvPr>
          <p:cNvSpPr txBox="1"/>
          <p:nvPr/>
        </p:nvSpPr>
        <p:spPr>
          <a:xfrm>
            <a:off x="1855689" y="2676959"/>
            <a:ext cx="11719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97586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Rest API(JSON)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Рисунок 16" descr="Download React Logo in SVG Vector or PNG File Format - Logo.wine">
            <a:extLst>
              <a:ext uri="{FF2B5EF4-FFF2-40B4-BE49-F238E27FC236}">
                <a16:creationId xmlns:a16="http://schemas.microsoft.com/office/drawing/2014/main" id="{AD369AAE-0A09-7195-2070-FD922D90D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26" y="2292004"/>
            <a:ext cx="1071407" cy="714271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3B1CB113-7B13-91AB-0A6F-BB8DAF7E3E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2509" y="2306255"/>
            <a:ext cx="655233" cy="670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3041"/>
          </a:solidFill>
          <a:ln w="12700">
            <a:solidFill>
              <a:srgbClr val="22304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484632" y="192927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23041"/>
                </a:solidFill>
                <a:latin typeface="Arial" pitchFamily="34" charset="0"/>
                <a:cs typeface="Arial" pitchFamily="34" charset="-120"/>
              </a:rPr>
              <a:t>UML</a:t>
            </a:r>
            <a:r>
              <a:rPr lang="uk-UA" sz="2700" b="1" dirty="0">
                <a:solidFill>
                  <a:srgbClr val="223041"/>
                </a:solidFill>
                <a:latin typeface="Arial" pitchFamily="34" charset="0"/>
                <a:cs typeface="Arial" pitchFamily="34" charset="-120"/>
              </a:rPr>
              <a:t>-діаграми прецедентів </a:t>
            </a:r>
            <a:r>
              <a:rPr lang="en-US" sz="2700" b="1" dirty="0" err="1">
                <a:solidFill>
                  <a:srgbClr val="223041"/>
                </a:solidFill>
                <a:latin typeface="Arial" pitchFamily="34" charset="0"/>
                <a:cs typeface="Arial" pitchFamily="34" charset="-120"/>
              </a:rPr>
              <a:t>PhysioAssist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84632" y="6858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uk-UA" sz="1350" dirty="0">
                <a:solidFill>
                  <a:srgbClr val="5E6B7D"/>
                </a:solidFill>
                <a:latin typeface="Arial" pitchFamily="34" charset="0"/>
                <a:cs typeface="Arial" pitchFamily="34" charset="-120"/>
              </a:rPr>
              <a:t>Сценарії </a:t>
            </a:r>
            <a:r>
              <a:rPr lang="ru-RU" sz="1350" dirty="0">
                <a:solidFill>
                  <a:srgbClr val="5E6B7D"/>
                </a:solidFill>
                <a:latin typeface="Arial" pitchFamily="34" charset="0"/>
                <a:cs typeface="Arial" pitchFamily="34" charset="-120"/>
              </a:rPr>
              <a:t>терапевта</a:t>
            </a:r>
            <a:r>
              <a:rPr lang="uk-UA" sz="1350" dirty="0">
                <a:solidFill>
                  <a:srgbClr val="5E6B7D"/>
                </a:solidFill>
                <a:latin typeface="Arial" pitchFamily="34" charset="0"/>
                <a:cs typeface="Arial" pitchFamily="34" charset="-120"/>
              </a:rPr>
              <a:t> та користувача(пацієнта)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84632" y="1234440"/>
            <a:ext cx="1024128" cy="36576"/>
          </a:xfrm>
          <a:prstGeom prst="rect">
            <a:avLst/>
          </a:prstGeom>
          <a:solidFill>
            <a:srgbClr val="F47421"/>
          </a:solidFill>
          <a:ln w="12700">
            <a:solidFill>
              <a:srgbClr val="F4742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3" name="Text 20"/>
          <p:cNvSpPr/>
          <p:nvPr/>
        </p:nvSpPr>
        <p:spPr>
          <a:xfrm>
            <a:off x="658368" y="3895344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58368" y="4471416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pic>
        <p:nvPicPr>
          <p:cNvPr id="6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85632" y="1764792"/>
            <a:ext cx="411480" cy="411480"/>
          </a:xfrm>
          <a:prstGeom prst="rect">
            <a:avLst/>
          </a:prstGeom>
        </p:spPr>
      </p:pic>
      <p:pic>
        <p:nvPicPr>
          <p:cNvPr id="116" name="Picture 3" descr="se_logo_cropped.png">
            <a:extLst>
              <a:ext uri="{FF2B5EF4-FFF2-40B4-BE49-F238E27FC236}">
                <a16:creationId xmlns:a16="http://schemas.microsoft.com/office/drawing/2014/main" id="{0B193AE3-A53C-F6D2-F697-18C1BF281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sp>
        <p:nvSpPr>
          <p:cNvPr id="118" name="Oval 4">
            <a:extLst>
              <a:ext uri="{FF2B5EF4-FFF2-40B4-BE49-F238E27FC236}">
                <a16:creationId xmlns:a16="http://schemas.microsoft.com/office/drawing/2014/main" id="{CA658A4D-8DB2-A24B-A9F2-A1E0D05BF6EE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E3554"/>
                </a:solidFill>
                <a:latin typeface="Arial"/>
              </a:rPr>
              <a:t>5</a:t>
            </a:r>
            <a:endParaRPr sz="1200" dirty="0">
              <a:solidFill>
                <a:srgbClr val="0E3554"/>
              </a:solidFill>
              <a:latin typeface="Arial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7F84DCF-8EC8-E0B2-B2FB-1285592371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39" y="1079006"/>
            <a:ext cx="5306697" cy="463461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FF3147A-0AF7-05EF-14C6-4A10A34115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86" y="1087855"/>
            <a:ext cx="5571674" cy="454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A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32D3A"/>
                </a:solidFill>
                <a:latin typeface="Arial"/>
              </a:rPr>
              <a:t>Архітектура системи Autonexis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98755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4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Трирівнева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клієнт-серверна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архітектура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з REST API та </a:t>
            </a:r>
            <a:r>
              <a:rPr lang="ru-RU" sz="14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розподілом</a:t>
            </a:r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доступу за ролями</a:t>
            </a:r>
            <a:endParaRPr sz="1250" b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1069848"/>
            <a:ext cx="960120" cy="32004"/>
          </a:xfrm>
          <a:prstGeom prst="rect">
            <a:avLst/>
          </a:prstGeom>
          <a:solidFill>
            <a:srgbClr val="F57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1536192"/>
            <a:ext cx="1874519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805" y="1536192"/>
            <a:ext cx="1463039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1" dirty="0">
                <a:solidFill>
                  <a:srgbClr val="232D3A"/>
                </a:solidFill>
                <a:latin typeface="Arial"/>
              </a:rPr>
              <a:t>React Web-app(SPA)</a:t>
            </a:r>
            <a:endParaRPr sz="1300" b="1" dirty="0">
              <a:solidFill>
                <a:srgbClr val="232D3A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1" y="1902081"/>
            <a:ext cx="1659637" cy="4847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Клієнтський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вебдодаток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базі</a:t>
            </a:r>
            <a:r>
              <a:rPr lang="en-US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Material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UI та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Tailwind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CSS</a:t>
            </a:r>
            <a:endParaRPr sz="1019" b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11480" y="3867912"/>
            <a:ext cx="1874519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21208" y="3995928"/>
            <a:ext cx="73152" cy="585216"/>
          </a:xfrm>
          <a:prstGeom prst="roundRect">
            <a:avLst/>
          </a:prstGeom>
          <a:solidFill>
            <a:srgbClr val="F57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3905600"/>
            <a:ext cx="1463039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1" dirty="0" err="1">
                <a:solidFill>
                  <a:srgbClr val="232D3A"/>
                </a:solidFill>
                <a:latin typeface="Arial"/>
              </a:rPr>
              <a:t>Axious</a:t>
            </a:r>
            <a:r>
              <a:rPr lang="en-US" sz="1300" b="1" dirty="0">
                <a:solidFill>
                  <a:srgbClr val="232D3A"/>
                </a:solidFill>
                <a:latin typeface="Arial"/>
              </a:rPr>
              <a:t> HTTP Client</a:t>
            </a:r>
            <a:endParaRPr sz="1300" b="1" dirty="0">
              <a:solidFill>
                <a:srgbClr val="232D3A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4088" y="4297680"/>
            <a:ext cx="146303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Клієнтські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запити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взаємодія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з API</a:t>
            </a:r>
            <a:endParaRPr sz="1019" b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983480" y="1115568"/>
            <a:ext cx="4069080" cy="3977639"/>
          </a:xfrm>
          <a:prstGeom prst="roundRect">
            <a:avLst/>
          </a:prstGeom>
          <a:solidFill>
            <a:srgbClr val="F2F7FA"/>
          </a:solidFill>
          <a:ln w="20320">
            <a:solidFill>
              <a:srgbClr val="14B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3480" y="1298448"/>
            <a:ext cx="40690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700" b="1" dirty="0">
                <a:solidFill>
                  <a:srgbClr val="232D3A"/>
                </a:solidFill>
                <a:latin typeface="Arial"/>
              </a:rPr>
              <a:t>Django REST Framework</a:t>
            </a:r>
            <a:endParaRPr sz="1700" b="1" dirty="0">
              <a:solidFill>
                <a:srgbClr val="232D3A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83480" y="1581912"/>
            <a:ext cx="406908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serializers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ru-RU" sz="105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  <a:endParaRPr sz="1050" b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257800" y="1965960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050" b="1" dirty="0">
                <a:solidFill>
                  <a:srgbClr val="00839F"/>
                </a:solidFill>
                <a:latin typeface="Arial"/>
              </a:rPr>
              <a:t>API Views and </a:t>
            </a:r>
            <a:r>
              <a:rPr lang="en-US" sz="1050" b="1" dirty="0" err="1">
                <a:solidFill>
                  <a:srgbClr val="00839F"/>
                </a:solidFill>
                <a:latin typeface="Arial"/>
              </a:rPr>
              <a:t>Roters</a:t>
            </a:r>
            <a:endParaRPr sz="1050" b="1" dirty="0">
              <a:solidFill>
                <a:srgbClr val="00839F"/>
              </a:solidFill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178040" y="1965960"/>
            <a:ext cx="16002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050" b="1" dirty="0">
                <a:solidFill>
                  <a:srgbClr val="F57829"/>
                </a:solidFill>
                <a:latin typeface="Arial"/>
              </a:rPr>
              <a:t>DRF Serializers</a:t>
            </a:r>
            <a:endParaRPr sz="1050" b="1" dirty="0">
              <a:solidFill>
                <a:srgbClr val="F57829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89804" y="2359932"/>
            <a:ext cx="153619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dirty="0" err="1">
                <a:solidFill>
                  <a:srgbClr val="606C7A"/>
                </a:solidFill>
                <a:latin typeface="Arial"/>
              </a:rPr>
              <a:t>приймання</a:t>
            </a:r>
            <a:r>
              <a:rPr sz="1000" b="0" dirty="0">
                <a:solidFill>
                  <a:srgbClr val="606C7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606C7A"/>
                </a:solidFill>
                <a:latin typeface="Arial"/>
              </a:rPr>
              <a:t>телеметрії</a:t>
            </a:r>
            <a:endParaRPr sz="1000" b="0" dirty="0">
              <a:solidFill>
                <a:srgbClr val="606C7A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200900" y="2368296"/>
            <a:ext cx="153619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dirty="0" err="1">
                <a:solidFill>
                  <a:srgbClr val="606C7A"/>
                </a:solidFill>
                <a:latin typeface="Arial"/>
              </a:rPr>
              <a:t>клієнтські</a:t>
            </a:r>
            <a:r>
              <a:rPr sz="1000" b="0" dirty="0">
                <a:solidFill>
                  <a:srgbClr val="606C7A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606C7A"/>
                </a:solidFill>
                <a:latin typeface="Arial"/>
              </a:rPr>
              <a:t>запити</a:t>
            </a:r>
            <a:endParaRPr sz="1000" b="0" dirty="0">
              <a:solidFill>
                <a:srgbClr val="606C7A"/>
              </a:solidFill>
              <a:latin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257800" y="2752343"/>
            <a:ext cx="1600200" cy="402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 dirty="0">
                <a:solidFill>
                  <a:srgbClr val="0A3350"/>
                </a:solidFill>
                <a:latin typeface="Arial"/>
              </a:rPr>
              <a:t>auth / </a:t>
            </a:r>
            <a:r>
              <a:rPr lang="en-US" sz="1000" b="1" dirty="0">
                <a:solidFill>
                  <a:srgbClr val="0A3350"/>
                </a:solidFill>
                <a:latin typeface="Arial"/>
              </a:rPr>
              <a:t>profiles</a:t>
            </a:r>
            <a:endParaRPr sz="1000" b="1" dirty="0">
              <a:solidFill>
                <a:srgbClr val="0A3350"/>
              </a:solidFill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168896" y="2752343"/>
            <a:ext cx="1600200" cy="402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000" b="1" dirty="0">
                <a:solidFill>
                  <a:srgbClr val="0A3350"/>
                </a:solidFill>
                <a:latin typeface="Arial"/>
              </a:rPr>
              <a:t>patients</a:t>
            </a:r>
            <a:r>
              <a:rPr sz="1000" b="1" dirty="0">
                <a:solidFill>
                  <a:srgbClr val="0A3350"/>
                </a:solidFill>
                <a:latin typeface="Arial"/>
              </a:rPr>
              <a:t> / </a:t>
            </a:r>
            <a:r>
              <a:rPr lang="en-US" sz="1000" b="1" dirty="0">
                <a:solidFill>
                  <a:srgbClr val="0A3350"/>
                </a:solidFill>
                <a:latin typeface="Arial"/>
              </a:rPr>
              <a:t>therapists</a:t>
            </a:r>
            <a:endParaRPr sz="1000" b="1" dirty="0">
              <a:solidFill>
                <a:srgbClr val="0A3350"/>
              </a:solidFill>
              <a:latin typeface="Arial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257800" y="3438144"/>
            <a:ext cx="1600200" cy="402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940" b="1" dirty="0">
                <a:solidFill>
                  <a:srgbClr val="00839F"/>
                </a:solidFill>
                <a:latin typeface="Arial"/>
              </a:rPr>
              <a:t>programs</a:t>
            </a:r>
            <a:r>
              <a:rPr sz="940" b="1" dirty="0">
                <a:solidFill>
                  <a:srgbClr val="00839F"/>
                </a:solidFill>
                <a:latin typeface="Arial"/>
              </a:rPr>
              <a:t> / </a:t>
            </a:r>
            <a:r>
              <a:rPr lang="en-US" sz="940" b="1" dirty="0">
                <a:solidFill>
                  <a:srgbClr val="00839F"/>
                </a:solidFill>
                <a:latin typeface="Arial"/>
              </a:rPr>
              <a:t>exercises</a:t>
            </a:r>
            <a:endParaRPr sz="940" b="1" dirty="0">
              <a:solidFill>
                <a:srgbClr val="00839F"/>
              </a:solidFill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178040" y="3438144"/>
            <a:ext cx="1600200" cy="402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940" b="1" dirty="0">
                <a:solidFill>
                  <a:srgbClr val="F57829"/>
                </a:solidFill>
                <a:latin typeface="Arial"/>
              </a:rPr>
              <a:t>Logs of exercises</a:t>
            </a:r>
            <a:endParaRPr sz="940" b="1" dirty="0">
              <a:solidFill>
                <a:srgbClr val="F57829"/>
              </a:solidFill>
              <a:latin typeface="Arial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126480" y="4233672"/>
            <a:ext cx="1737360" cy="402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000" b="1" dirty="0">
                <a:solidFill>
                  <a:srgbClr val="0A3350"/>
                </a:solidFill>
                <a:latin typeface="Arial"/>
              </a:rPr>
              <a:t>statistics</a:t>
            </a:r>
            <a:r>
              <a:rPr sz="1000" b="1" dirty="0">
                <a:solidFill>
                  <a:srgbClr val="0A3350"/>
                </a:solidFill>
                <a:latin typeface="Arial"/>
              </a:rPr>
              <a:t> / </a:t>
            </a:r>
            <a:r>
              <a:rPr lang="en-US" sz="1000" b="1" dirty="0" err="1">
                <a:solidFill>
                  <a:srgbClr val="0A3350"/>
                </a:solidFill>
                <a:latin typeface="Arial"/>
              </a:rPr>
              <a:t>analitics</a:t>
            </a:r>
            <a:endParaRPr sz="1000" b="1" dirty="0">
              <a:solidFill>
                <a:srgbClr val="0A3350"/>
              </a:solidFill>
              <a:latin typeface="Arial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784080" y="2788920"/>
            <a:ext cx="1874519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893807" y="2916936"/>
            <a:ext cx="73152" cy="612647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12680" y="2826667"/>
            <a:ext cx="14630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232D3A"/>
                </a:solidFill>
                <a:latin typeface="Arial"/>
              </a:rPr>
              <a:t>PostgreSQL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038866"/>
            <a:ext cx="1463039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збереження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користувачів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лікування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логів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вправ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900" b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784080" y="960120"/>
            <a:ext cx="1874519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893807" y="1088136"/>
            <a:ext cx="73152" cy="493775"/>
          </a:xfrm>
          <a:prstGeom prst="roundRect">
            <a:avLst/>
          </a:prstGeom>
          <a:solidFill>
            <a:srgbClr val="0A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12680" y="997808"/>
            <a:ext cx="1463039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1" dirty="0" err="1">
                <a:solidFill>
                  <a:srgbClr val="232D3A"/>
                </a:solidFill>
                <a:latin typeface="Arial"/>
              </a:rPr>
              <a:t>SimpleJWT</a:t>
            </a:r>
            <a:endParaRPr sz="1300" b="1" dirty="0">
              <a:solidFill>
                <a:srgbClr val="232D3A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012680" y="1209434"/>
            <a:ext cx="1737361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генерація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підпис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валідація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JWT-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токенів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(Access/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Refresh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для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безпечного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доступу. </a:t>
            </a:r>
            <a:endParaRPr sz="900" b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Left-Right Arrow 42"/>
          <p:cNvSpPr/>
          <p:nvPr/>
        </p:nvSpPr>
        <p:spPr>
          <a:xfrm>
            <a:off x="2331720" y="4178808"/>
            <a:ext cx="2615184" cy="146304"/>
          </a:xfrm>
          <a:prstGeom prst="leftRightArrow">
            <a:avLst/>
          </a:prstGeom>
          <a:solidFill>
            <a:srgbClr val="F57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46120" y="3941063"/>
            <a:ext cx="1024128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 dirty="0">
                <a:solidFill>
                  <a:srgbClr val="F57829"/>
                </a:solidFill>
                <a:latin typeface="Arial"/>
              </a:rPr>
              <a:t>REST API</a:t>
            </a:r>
            <a:r>
              <a:rPr lang="en-US" sz="950" b="1" dirty="0">
                <a:solidFill>
                  <a:srgbClr val="F57829"/>
                </a:solidFill>
                <a:latin typeface="Arial"/>
              </a:rPr>
              <a:t>(HTTP/JSON)</a:t>
            </a:r>
            <a:endParaRPr sz="950" b="1" dirty="0">
              <a:solidFill>
                <a:srgbClr val="F57829"/>
              </a:solidFill>
              <a:latin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070848" y="2880133"/>
            <a:ext cx="6858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dirty="0">
                <a:solidFill>
                  <a:srgbClr val="606C7A"/>
                </a:solidFill>
                <a:latin typeface="Arial"/>
              </a:rPr>
              <a:t>SQL</a:t>
            </a:r>
            <a:r>
              <a:rPr lang="en-US" sz="1100" b="1" dirty="0">
                <a:solidFill>
                  <a:srgbClr val="606C7A"/>
                </a:solidFill>
                <a:latin typeface="Arial"/>
              </a:rPr>
              <a:t>(Django ORM)</a:t>
            </a:r>
            <a:r>
              <a:rPr sz="1100" b="1" dirty="0">
                <a:solidFill>
                  <a:srgbClr val="606C7A"/>
                </a:solidFill>
                <a:latin typeface="Arial"/>
              </a:rPr>
              <a:t> </a:t>
            </a:r>
          </a:p>
        </p:txBody>
      </p:sp>
      <p:sp>
        <p:nvSpPr>
          <p:cNvPr id="47" name="Left Arrow 46"/>
          <p:cNvSpPr/>
          <p:nvPr/>
        </p:nvSpPr>
        <p:spPr>
          <a:xfrm>
            <a:off x="9052560" y="1481328"/>
            <a:ext cx="713232" cy="146304"/>
          </a:xfrm>
          <a:prstGeom prst="lef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79992" y="1203995"/>
            <a:ext cx="676656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1" dirty="0">
                <a:solidFill>
                  <a:srgbClr val="606C7A"/>
                </a:solidFill>
                <a:latin typeface="Arial"/>
              </a:rPr>
              <a:t>JWT auth</a:t>
            </a:r>
            <a:endParaRPr sz="1000" b="1" dirty="0">
              <a:solidFill>
                <a:srgbClr val="606C7A"/>
              </a:solidFill>
              <a:latin typeface="Arial"/>
            </a:endParaRPr>
          </a:p>
        </p:txBody>
      </p:sp>
      <p:pic>
        <p:nvPicPr>
          <p:cNvPr id="50" name="Picture 3" descr="se_logo_cropped.png">
            <a:extLst>
              <a:ext uri="{FF2B5EF4-FFF2-40B4-BE49-F238E27FC236}">
                <a16:creationId xmlns:a16="http://schemas.microsoft.com/office/drawing/2014/main" id="{865FB51C-2527-3AFA-5DBB-04CC5588A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sp>
        <p:nvSpPr>
          <p:cNvPr id="51" name="Oval 4">
            <a:extLst>
              <a:ext uri="{FF2B5EF4-FFF2-40B4-BE49-F238E27FC236}">
                <a16:creationId xmlns:a16="http://schemas.microsoft.com/office/drawing/2014/main" id="{2739A7BE-1AF9-5AAA-2532-CD45D40F0F3D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E3554"/>
                </a:solidFill>
                <a:latin typeface="Arial"/>
              </a:rPr>
              <a:t>6</a:t>
            </a:r>
            <a:endParaRPr sz="1200" dirty="0">
              <a:solidFill>
                <a:srgbClr val="0E3554"/>
              </a:solidFill>
              <a:latin typeface="Arial"/>
            </a:endParaRPr>
          </a:p>
        </p:txBody>
      </p:sp>
      <p:sp>
        <p:nvSpPr>
          <p:cNvPr id="52" name="Left-Right Arrow 42">
            <a:extLst>
              <a:ext uri="{FF2B5EF4-FFF2-40B4-BE49-F238E27FC236}">
                <a16:creationId xmlns:a16="http://schemas.microsoft.com/office/drawing/2014/main" id="{3850E567-0807-D8FB-B273-DE98D7953BC4}"/>
              </a:ext>
            </a:extLst>
          </p:cNvPr>
          <p:cNvSpPr/>
          <p:nvPr/>
        </p:nvSpPr>
        <p:spPr>
          <a:xfrm>
            <a:off x="9089135" y="3218687"/>
            <a:ext cx="658369" cy="164591"/>
          </a:xfrm>
          <a:prstGeom prst="left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Left-Right Arrow 42">
            <a:extLst>
              <a:ext uri="{FF2B5EF4-FFF2-40B4-BE49-F238E27FC236}">
                <a16:creationId xmlns:a16="http://schemas.microsoft.com/office/drawing/2014/main" id="{B00DD605-AF23-0658-9CE2-B8C1752F3C70}"/>
              </a:ext>
            </a:extLst>
          </p:cNvPr>
          <p:cNvSpPr/>
          <p:nvPr/>
        </p:nvSpPr>
        <p:spPr>
          <a:xfrm>
            <a:off x="2285999" y="1860465"/>
            <a:ext cx="2615184" cy="146304"/>
          </a:xfrm>
          <a:prstGeom prst="leftRightArrow">
            <a:avLst/>
          </a:prstGeom>
          <a:solidFill>
            <a:srgbClr val="F57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8D630A-E806-2E45-A8AD-1830EA271D64}"/>
              </a:ext>
            </a:extLst>
          </p:cNvPr>
          <p:cNvSpPr txBox="1"/>
          <p:nvPr/>
        </p:nvSpPr>
        <p:spPr>
          <a:xfrm>
            <a:off x="2999231" y="1568077"/>
            <a:ext cx="1024128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 dirty="0">
                <a:solidFill>
                  <a:srgbClr val="F57829"/>
                </a:solidFill>
                <a:latin typeface="Arial"/>
              </a:rPr>
              <a:t>REST API</a:t>
            </a:r>
            <a:r>
              <a:rPr lang="en-US" sz="950" b="1" dirty="0">
                <a:solidFill>
                  <a:srgbClr val="F57829"/>
                </a:solidFill>
                <a:latin typeface="Arial"/>
              </a:rPr>
              <a:t>(HTTP/JSON)</a:t>
            </a:r>
            <a:endParaRPr sz="950" b="1" dirty="0">
              <a:solidFill>
                <a:srgbClr val="F57829"/>
              </a:solidFill>
              <a:latin typeface="Arial"/>
            </a:endParaRPr>
          </a:p>
        </p:txBody>
      </p:sp>
      <p:sp>
        <p:nvSpPr>
          <p:cNvPr id="58" name="Rounded Rectangle 14">
            <a:extLst>
              <a:ext uri="{FF2B5EF4-FFF2-40B4-BE49-F238E27FC236}">
                <a16:creationId xmlns:a16="http://schemas.microsoft.com/office/drawing/2014/main" id="{5499B63B-6F76-E6E2-1511-6A5DDDBED2A2}"/>
              </a:ext>
            </a:extLst>
          </p:cNvPr>
          <p:cNvSpPr/>
          <p:nvPr/>
        </p:nvSpPr>
        <p:spPr>
          <a:xfrm>
            <a:off x="507493" y="1673352"/>
            <a:ext cx="73152" cy="585216"/>
          </a:xfrm>
          <a:prstGeom prst="roundRect">
            <a:avLst/>
          </a:prstGeom>
          <a:solidFill>
            <a:srgbClr val="F57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3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0896" y="30175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300" b="1" dirty="0">
                <a:solidFill>
                  <a:srgbClr val="232D3A"/>
                </a:solidFill>
                <a:latin typeface="Arial"/>
              </a:rPr>
              <a:t>ER-</a:t>
            </a:r>
            <a:r>
              <a:rPr lang="uk-UA" sz="2300" b="1" dirty="0">
                <a:solidFill>
                  <a:srgbClr val="232D3A"/>
                </a:solidFill>
                <a:latin typeface="Arial"/>
              </a:rPr>
              <a:t>модель бази даних</a:t>
            </a:r>
            <a:r>
              <a:rPr lang="en-US" sz="2300" b="1" dirty="0">
                <a:solidFill>
                  <a:srgbClr val="232D3A"/>
                </a:solidFill>
                <a:latin typeface="Arial"/>
              </a:rPr>
              <a:t> </a:t>
            </a:r>
            <a:r>
              <a:rPr lang="en-US" sz="2300" b="1" dirty="0" err="1">
                <a:solidFill>
                  <a:srgbClr val="232D3A"/>
                </a:solidFill>
                <a:latin typeface="Arial"/>
              </a:rPr>
              <a:t>PhysioAssist</a:t>
            </a:r>
            <a:r>
              <a:rPr lang="uk-UA" sz="2300" b="1" dirty="0">
                <a:solidFill>
                  <a:srgbClr val="232D3A"/>
                </a:solidFill>
                <a:latin typeface="Arial"/>
              </a:rPr>
              <a:t> </a:t>
            </a:r>
            <a:endParaRPr sz="2300" b="1" dirty="0">
              <a:solidFill>
                <a:srgbClr val="232D3A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0896" y="704088"/>
            <a:ext cx="7863840" cy="1631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uk-UA" sz="1060" dirty="0">
                <a:solidFill>
                  <a:srgbClr val="5F6A78"/>
                </a:solidFill>
                <a:latin typeface="Arial"/>
              </a:rPr>
              <a:t>Актуальна фізична схема </a:t>
            </a:r>
            <a:r>
              <a:rPr lang="en-US" sz="1060" dirty="0">
                <a:solidFill>
                  <a:srgbClr val="5F6A78"/>
                </a:solidFill>
                <a:latin typeface="Arial"/>
              </a:rPr>
              <a:t>PostgreSQL</a:t>
            </a:r>
            <a:endParaRPr sz="1060" b="0" dirty="0">
              <a:solidFill>
                <a:srgbClr val="5F6A78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0896" y="987552"/>
            <a:ext cx="932688" cy="36576"/>
          </a:xfrm>
          <a:prstGeom prst="rect">
            <a:avLst/>
          </a:prstGeom>
          <a:solidFill>
            <a:srgbClr val="F27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" descr="se_logo_cropped.png">
            <a:extLst>
              <a:ext uri="{FF2B5EF4-FFF2-40B4-BE49-F238E27FC236}">
                <a16:creationId xmlns:a16="http://schemas.microsoft.com/office/drawing/2014/main" id="{1CE0F8E4-A8EE-9A7F-2B55-ACFD13173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sp>
        <p:nvSpPr>
          <p:cNvPr id="40" name="Oval 4">
            <a:extLst>
              <a:ext uri="{FF2B5EF4-FFF2-40B4-BE49-F238E27FC236}">
                <a16:creationId xmlns:a16="http://schemas.microsoft.com/office/drawing/2014/main" id="{A8C8C53A-D1A0-EA75-ADC8-ADD53A769A2B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E3554"/>
                </a:solidFill>
                <a:latin typeface="Arial"/>
              </a:rPr>
              <a:t>7</a:t>
            </a:r>
            <a:endParaRPr sz="1200" dirty="0">
              <a:solidFill>
                <a:srgbClr val="0E3554"/>
              </a:solidFill>
              <a:latin typeface="Arial"/>
            </a:endParaRPr>
          </a:p>
        </p:txBody>
      </p:sp>
      <p:pic>
        <p:nvPicPr>
          <p:cNvPr id="46" name="Графіка 45">
            <a:extLst>
              <a:ext uri="{FF2B5EF4-FFF2-40B4-BE49-F238E27FC236}">
                <a16:creationId xmlns:a16="http://schemas.microsoft.com/office/drawing/2014/main" id="{8D184739-A3A3-47F3-2308-AC1A8FF127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19" y="1643580"/>
            <a:ext cx="5509874" cy="4192634"/>
          </a:xfrm>
          <a:prstGeom prst="rect">
            <a:avLst/>
          </a:prstGeom>
        </p:spPr>
      </p:pic>
      <p:pic>
        <p:nvPicPr>
          <p:cNvPr id="51" name="Графіка 50">
            <a:extLst>
              <a:ext uri="{FF2B5EF4-FFF2-40B4-BE49-F238E27FC236}">
                <a16:creationId xmlns:a16="http://schemas.microsoft.com/office/drawing/2014/main" id="{D8E842DE-DB93-72C0-163C-4B4230CA71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7297" y="1234453"/>
            <a:ext cx="6278510" cy="5025014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40FCB261-2582-67BC-D0B2-8167AC6AE60F}"/>
              </a:ext>
            </a:extLst>
          </p:cNvPr>
          <p:cNvSpPr txBox="1"/>
          <p:nvPr/>
        </p:nvSpPr>
        <p:spPr>
          <a:xfrm>
            <a:off x="4058794" y="728866"/>
            <a:ext cx="34770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600" b="1" dirty="0">
                <a:latin typeface="Arial" panose="020B0604020202020204" pitchFamily="34" charset="0"/>
                <a:cs typeface="Arial" panose="020B0604020202020204" pitchFamily="34" charset="0"/>
              </a:rPr>
              <a:t>Телеметрія, інциденти та сервіс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59884B7-E997-98BA-14BE-C1F3225C4E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34453"/>
            <a:ext cx="12122292" cy="472540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0DD9FCD-D531-C5BD-58ED-52C485CBFE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1588" y="5920064"/>
            <a:ext cx="1648055" cy="60015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7371D41-8FF8-3BED-D096-4BB383D84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2137" y="1316736"/>
            <a:ext cx="6881475" cy="44392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3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320040"/>
            <a:ext cx="5852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dirty="0" err="1">
                <a:solidFill>
                  <a:srgbClr val="232D3A"/>
                </a:solidFill>
                <a:latin typeface="Arial"/>
              </a:rPr>
              <a:t>Реалізація</a:t>
            </a:r>
            <a:r>
              <a:rPr sz="2700" b="1" dirty="0">
                <a:solidFill>
                  <a:srgbClr val="232D3A"/>
                </a:solidFill>
                <a:latin typeface="Arial"/>
              </a:rPr>
              <a:t> </a:t>
            </a:r>
            <a:r>
              <a:rPr sz="2700" b="1" dirty="0" err="1">
                <a:solidFill>
                  <a:srgbClr val="232D3A"/>
                </a:solidFill>
                <a:latin typeface="Arial"/>
              </a:rPr>
              <a:t>вебзастосунку</a:t>
            </a:r>
            <a:endParaRPr sz="2700" b="1" dirty="0">
              <a:solidFill>
                <a:srgbClr val="232D3A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749808"/>
            <a:ext cx="6126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 err="1">
                <a:solidFill>
                  <a:srgbClr val="5C6879"/>
                </a:solidFill>
                <a:latin typeface="Arial"/>
              </a:rPr>
              <a:t>Вебінтерфейс</a:t>
            </a:r>
            <a:r>
              <a:rPr sz="1200" b="0" dirty="0">
                <a:solidFill>
                  <a:srgbClr val="5C687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5C6879"/>
                </a:solidFill>
                <a:latin typeface="Arial"/>
              </a:rPr>
              <a:t>для</a:t>
            </a:r>
            <a:r>
              <a:rPr sz="1200" b="0" dirty="0">
                <a:solidFill>
                  <a:srgbClr val="5C687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5C6879"/>
                </a:solidFill>
                <a:latin typeface="Arial"/>
              </a:rPr>
              <a:t>адміністратора</a:t>
            </a:r>
            <a:r>
              <a:rPr sz="1200" b="0" dirty="0">
                <a:solidFill>
                  <a:srgbClr val="5C687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5C6879"/>
                </a:solidFill>
                <a:latin typeface="Arial"/>
              </a:rPr>
              <a:t>та</a:t>
            </a:r>
            <a:r>
              <a:rPr sz="1200" b="0" dirty="0">
                <a:solidFill>
                  <a:srgbClr val="5C687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5C6879"/>
                </a:solidFill>
                <a:latin typeface="Arial"/>
              </a:rPr>
              <a:t>технічного</a:t>
            </a:r>
            <a:r>
              <a:rPr sz="1200" b="0" dirty="0">
                <a:solidFill>
                  <a:srgbClr val="5C6879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5C6879"/>
                </a:solidFill>
                <a:latin typeface="Arial"/>
              </a:rPr>
              <a:t>спеціаліста</a:t>
            </a:r>
            <a:endParaRPr sz="1200" b="0" dirty="0">
              <a:solidFill>
                <a:srgbClr val="5C6879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4048" y="1024128"/>
            <a:ext cx="950976" cy="32004"/>
          </a:xfrm>
          <a:prstGeom prst="rect">
            <a:avLst/>
          </a:prstGeom>
          <a:solidFill>
            <a:srgbClr val="F67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53312"/>
            <a:ext cx="2880360" cy="4343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329337"/>
            <a:ext cx="73152" cy="4343400"/>
          </a:xfrm>
          <a:prstGeom prst="rect">
            <a:avLst/>
          </a:prstGeom>
          <a:solidFill>
            <a:srgbClr val="00A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13816" y="162763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 err="1">
                <a:solidFill>
                  <a:srgbClr val="232D3A"/>
                </a:solidFill>
                <a:latin typeface="Arial"/>
              </a:rPr>
              <a:t>Основні</a:t>
            </a:r>
            <a:r>
              <a:rPr sz="1600" b="1" dirty="0">
                <a:solidFill>
                  <a:srgbClr val="232D3A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32D3A"/>
                </a:solidFill>
                <a:latin typeface="Arial"/>
              </a:rPr>
              <a:t>сценарії</a:t>
            </a:r>
            <a:endParaRPr sz="1600" b="1" dirty="0">
              <a:solidFill>
                <a:srgbClr val="232D3A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4366" y="2039112"/>
            <a:ext cx="2331720" cy="1938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uk-UA" sz="1260" b="1" dirty="0">
                <a:solidFill>
                  <a:srgbClr val="0D3E61"/>
                </a:solidFill>
                <a:latin typeface="Arial"/>
              </a:rPr>
              <a:t>Фізіотерапевт</a:t>
            </a:r>
            <a:endParaRPr sz="1260" b="1" dirty="0">
              <a:solidFill>
                <a:srgbClr val="0D3E61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9536" y="2313432"/>
            <a:ext cx="2240280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uk-UA" sz="1100" dirty="0">
                <a:solidFill>
                  <a:srgbClr val="232D3A"/>
                </a:solidFill>
                <a:latin typeface="Arial"/>
              </a:rPr>
              <a:t>-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 </a:t>
            </a:r>
            <a:r>
              <a:rPr lang="uk-UA" sz="1100" b="0" dirty="0">
                <a:solidFill>
                  <a:srgbClr val="232D3A"/>
                </a:solidFill>
                <a:latin typeface="Arial"/>
              </a:rPr>
              <a:t>Управління базою та медичними картками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
</a:t>
            </a:r>
            <a:r>
              <a:rPr lang="uk-UA" sz="1100" b="0" dirty="0">
                <a:solidFill>
                  <a:srgbClr val="232D3A"/>
                </a:solidFill>
                <a:latin typeface="Arial"/>
              </a:rPr>
              <a:t>-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 </a:t>
            </a:r>
            <a:r>
              <a:rPr lang="uk-UA" sz="1100" b="0" dirty="0">
                <a:solidFill>
                  <a:srgbClr val="232D3A"/>
                </a:solidFill>
                <a:latin typeface="Arial"/>
              </a:rPr>
              <a:t>Робота з каталогом фізичних вправ</a:t>
            </a:r>
            <a:endParaRPr sz="1100" b="0" dirty="0">
              <a:solidFill>
                <a:srgbClr val="232D3A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9794" y="3081528"/>
            <a:ext cx="2331720" cy="1938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uk-UA" sz="1260" b="1" dirty="0">
                <a:solidFill>
                  <a:srgbClr val="00A6C7"/>
                </a:solidFill>
                <a:latin typeface="Arial"/>
              </a:rPr>
              <a:t>Пацієнт</a:t>
            </a:r>
            <a:endParaRPr sz="1260" b="1" dirty="0">
              <a:solidFill>
                <a:srgbClr val="00A6C7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9536" y="3355848"/>
            <a:ext cx="1929384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uk-UA" sz="1100" dirty="0">
                <a:solidFill>
                  <a:srgbClr val="232D3A"/>
                </a:solidFill>
                <a:latin typeface="Arial"/>
              </a:rPr>
              <a:t>-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 </a:t>
            </a:r>
            <a:r>
              <a:rPr lang="uk-UA" sz="1100" b="0" dirty="0">
                <a:solidFill>
                  <a:srgbClr val="232D3A"/>
                </a:solidFill>
                <a:latin typeface="Arial"/>
              </a:rPr>
              <a:t>Перегляд план тренувань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
</a:t>
            </a:r>
            <a:r>
              <a:rPr lang="uk-UA" sz="1100" b="0" dirty="0">
                <a:solidFill>
                  <a:srgbClr val="232D3A"/>
                </a:solidFill>
                <a:latin typeface="Arial"/>
              </a:rPr>
              <a:t>-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 </a:t>
            </a:r>
            <a:r>
              <a:rPr lang="uk-UA" sz="1100" b="0" dirty="0">
                <a:solidFill>
                  <a:srgbClr val="232D3A"/>
                </a:solidFill>
                <a:latin typeface="Arial"/>
              </a:rPr>
              <a:t>Інструкції до вправ</a:t>
            </a:r>
            <a:r>
              <a:rPr sz="1100" b="0" dirty="0">
                <a:solidFill>
                  <a:srgbClr val="232D3A"/>
                </a:solidFill>
                <a:latin typeface="Arial"/>
              </a:rPr>
              <a:t>
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4334256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60" b="1" dirty="0" err="1">
                <a:solidFill>
                  <a:srgbClr val="F67625"/>
                </a:solidFill>
                <a:latin typeface="Arial"/>
              </a:rPr>
              <a:t>Надійність</a:t>
            </a:r>
            <a:r>
              <a:rPr sz="1260" b="1" dirty="0">
                <a:solidFill>
                  <a:srgbClr val="F67625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F67625"/>
                </a:solidFill>
                <a:latin typeface="Arial"/>
              </a:rPr>
              <a:t>дій</a:t>
            </a:r>
            <a:endParaRPr sz="1260" b="1" dirty="0">
              <a:solidFill>
                <a:srgbClr val="F67625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9536" y="4608576"/>
            <a:ext cx="2240280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Усі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медичні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призначення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звіти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пацієнтів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проходять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сувору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валідацію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серверній</a:t>
            </a:r>
            <a:r>
              <a:rPr lang="ru-RU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 err="1">
                <a:latin typeface="Arial" panose="020B0604020202020204" pitchFamily="34" charset="0"/>
                <a:cs typeface="Arial" panose="020B0604020202020204" pitchFamily="34" charset="0"/>
              </a:rPr>
              <a:t>стороні</a:t>
            </a:r>
            <a:endParaRPr sz="1060" b="0" dirty="0">
              <a:solidFill>
                <a:srgbClr val="232D3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7240" y="5230368"/>
            <a:ext cx="2240280" cy="310896"/>
          </a:xfrm>
          <a:prstGeom prst="roundRect">
            <a:avLst/>
          </a:prstGeom>
          <a:solidFill>
            <a:srgbClr val="E8F9FC"/>
          </a:solidFill>
          <a:ln w="1016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0" rIns="63500" bIns="0" rtlCol="0" anchor="ctr"/>
          <a:lstStyle/>
          <a:p>
            <a:pPr algn="ctr"/>
            <a:r>
              <a:rPr sz="1040" b="1" dirty="0">
                <a:solidFill>
                  <a:srgbClr val="00A6C7"/>
                </a:solidFill>
                <a:latin typeface="Arial"/>
              </a:rPr>
              <a:t>React + TypeScript + REST API</a:t>
            </a:r>
          </a:p>
        </p:txBody>
      </p:sp>
      <p:grpSp>
        <p:nvGrpSpPr>
          <p:cNvPr id="38" name="Групувати 37">
            <a:extLst>
              <a:ext uri="{FF2B5EF4-FFF2-40B4-BE49-F238E27FC236}">
                <a16:creationId xmlns:a16="http://schemas.microsoft.com/office/drawing/2014/main" id="{DE2B0246-D778-8996-761C-B6D0515C874F}"/>
              </a:ext>
            </a:extLst>
          </p:cNvPr>
          <p:cNvGrpSpPr/>
          <p:nvPr/>
        </p:nvGrpSpPr>
        <p:grpSpPr>
          <a:xfrm>
            <a:off x="3566160" y="994579"/>
            <a:ext cx="6456538" cy="3145536"/>
            <a:chOff x="3566160" y="1056132"/>
            <a:chExt cx="6456538" cy="3145536"/>
          </a:xfrm>
        </p:grpSpPr>
        <p:sp>
          <p:nvSpPr>
            <p:cNvPr id="16" name="Rounded Rectangle 15"/>
            <p:cNvSpPr/>
            <p:nvPr/>
          </p:nvSpPr>
          <p:spPr>
            <a:xfrm>
              <a:off x="3566160" y="1056132"/>
              <a:ext cx="6382512" cy="314553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B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033378" y="1128556"/>
              <a:ext cx="5989320" cy="1846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200" b="1" dirty="0" err="1">
                  <a:solidFill>
                    <a:srgbClr val="5C6879"/>
                  </a:solidFill>
                  <a:latin typeface="Arial"/>
                </a:rPr>
                <a:t>Робочий</a:t>
              </a:r>
              <a:r>
                <a:rPr sz="1200" b="1" dirty="0">
                  <a:solidFill>
                    <a:srgbClr val="5C6879"/>
                  </a:solidFill>
                  <a:latin typeface="Arial"/>
                </a:rPr>
                <a:t> </a:t>
              </a:r>
              <a:r>
                <a:rPr sz="1200" b="1" dirty="0" err="1">
                  <a:solidFill>
                    <a:srgbClr val="5C6879"/>
                  </a:solidFill>
                  <a:latin typeface="Arial"/>
                </a:rPr>
                <a:t>простір</a:t>
              </a:r>
              <a:r>
                <a:rPr sz="1200" b="1" dirty="0">
                  <a:solidFill>
                    <a:srgbClr val="5C6879"/>
                  </a:solidFill>
                  <a:latin typeface="Arial"/>
                </a:rPr>
                <a:t> </a:t>
              </a:r>
              <a:r>
                <a:rPr lang="uk-UA" sz="1200" b="1" dirty="0">
                  <a:solidFill>
                    <a:srgbClr val="5C6879"/>
                  </a:solidFill>
                  <a:latin typeface="Arial"/>
                </a:rPr>
                <a:t>фізіотерапевта</a:t>
              </a:r>
              <a:r>
                <a:rPr sz="1200" b="1" dirty="0">
                  <a:solidFill>
                    <a:srgbClr val="5C6879"/>
                  </a:solidFill>
                  <a:latin typeface="Arial"/>
                </a:rPr>
                <a:t>: </a:t>
              </a:r>
              <a:r>
                <a:rPr sz="1200" b="1" dirty="0" err="1">
                  <a:solidFill>
                    <a:srgbClr val="5C6879"/>
                  </a:solidFill>
                  <a:latin typeface="Arial"/>
                </a:rPr>
                <a:t>призначення</a:t>
              </a:r>
              <a:r>
                <a:rPr sz="1200" b="1" dirty="0">
                  <a:solidFill>
                    <a:srgbClr val="5C6879"/>
                  </a:solidFill>
                  <a:latin typeface="Arial"/>
                </a:rPr>
                <a:t> </a:t>
              </a:r>
              <a:r>
                <a:rPr lang="uk-UA" sz="1200" b="1" dirty="0">
                  <a:solidFill>
                    <a:srgbClr val="5C6879"/>
                  </a:solidFill>
                  <a:latin typeface="Arial"/>
                </a:rPr>
                <a:t>індивідуального лікування</a:t>
              </a:r>
              <a:endParaRPr sz="1200" b="1" dirty="0">
                <a:solidFill>
                  <a:srgbClr val="5C6879"/>
                </a:solidFill>
                <a:latin typeface="Arial"/>
              </a:endParaRPr>
            </a:p>
          </p:txBody>
        </p:sp>
      </p:grpSp>
      <p:sp>
        <p:nvSpPr>
          <p:cNvPr id="19" name="Rounded Rectangle 18"/>
          <p:cNvSpPr/>
          <p:nvPr/>
        </p:nvSpPr>
        <p:spPr>
          <a:xfrm>
            <a:off x="3611880" y="4250174"/>
            <a:ext cx="63367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97096" y="4259318"/>
            <a:ext cx="538581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uk-UA" sz="1200" b="1" dirty="0">
                <a:solidFill>
                  <a:srgbClr val="5C6879"/>
                </a:solidFill>
                <a:latin typeface="Arial"/>
              </a:rPr>
              <a:t>Діагнози пацієнта та історія виконання вправ</a:t>
            </a:r>
            <a:endParaRPr sz="1200" b="1" dirty="0">
              <a:solidFill>
                <a:srgbClr val="5C6879"/>
              </a:solidFill>
              <a:latin typeface="Arial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736995" y="6355080"/>
            <a:ext cx="6172200" cy="301752"/>
          </a:xfrm>
          <a:prstGeom prst="roundRect">
            <a:avLst/>
          </a:prstGeom>
          <a:solidFill>
            <a:srgbClr val="EEF6FB"/>
          </a:solidFill>
          <a:ln w="10160">
            <a:solidFill>
              <a:srgbClr val="D3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22191" y="6428232"/>
            <a:ext cx="592531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ru-RU" sz="800" dirty="0" err="1">
                <a:solidFill>
                  <a:schemeClr val="bg1">
                    <a:lumMod val="50000"/>
                  </a:schemeClr>
                </a:solidFill>
              </a:rPr>
              <a:t>Вебзастосунок</a:t>
            </a:r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800" dirty="0" err="1">
                <a:solidFill>
                  <a:schemeClr val="bg1">
                    <a:lumMod val="50000"/>
                  </a:schemeClr>
                </a:solidFill>
              </a:rPr>
              <a:t>поєднує</a:t>
            </a:r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800" dirty="0" err="1">
                <a:solidFill>
                  <a:schemeClr val="bg1">
                    <a:lumMod val="50000"/>
                  </a:schemeClr>
                </a:solidFill>
              </a:rPr>
              <a:t>зручне</a:t>
            </a:r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800" dirty="0" err="1">
                <a:solidFill>
                  <a:schemeClr val="bg1">
                    <a:lumMod val="50000"/>
                  </a:schemeClr>
                </a:solidFill>
              </a:rPr>
              <a:t>управління</a:t>
            </a:r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800" dirty="0" err="1">
                <a:solidFill>
                  <a:schemeClr val="bg1">
                    <a:lumMod val="50000"/>
                  </a:schemeClr>
                </a:solidFill>
              </a:rPr>
              <a:t>процесом</a:t>
            </a:r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800" dirty="0" err="1">
                <a:solidFill>
                  <a:schemeClr val="bg1">
                    <a:lumMod val="50000"/>
                  </a:schemeClr>
                </a:solidFill>
              </a:rPr>
              <a:t>лікування</a:t>
            </a:r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800" dirty="0" err="1">
                <a:solidFill>
                  <a:schemeClr val="bg1">
                    <a:lumMod val="50000"/>
                  </a:schemeClr>
                </a:solidFill>
              </a:rPr>
              <a:t>лікарем</a:t>
            </a:r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 та </a:t>
            </a:r>
            <a:r>
              <a:rPr lang="ru-RU" sz="800" dirty="0" err="1">
                <a:solidFill>
                  <a:schemeClr val="bg1">
                    <a:lumMod val="50000"/>
                  </a:schemeClr>
                </a:solidFill>
              </a:rPr>
              <a:t>щоденний</a:t>
            </a:r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800" dirty="0" err="1">
                <a:solidFill>
                  <a:schemeClr val="bg1">
                    <a:lumMod val="50000"/>
                  </a:schemeClr>
                </a:solidFill>
              </a:rPr>
              <a:t>інтерактивний</a:t>
            </a:r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800" dirty="0" err="1">
                <a:solidFill>
                  <a:schemeClr val="bg1">
                    <a:lumMod val="50000"/>
                  </a:schemeClr>
                </a:solidFill>
              </a:rPr>
              <a:t>моніторинг</a:t>
            </a:r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 стану </a:t>
            </a:r>
            <a:r>
              <a:rPr lang="ru-RU" sz="800" dirty="0" err="1">
                <a:solidFill>
                  <a:schemeClr val="bg1">
                    <a:lumMod val="50000"/>
                  </a:schemeClr>
                </a:solidFill>
              </a:rPr>
              <a:t>пацієнта</a:t>
            </a:r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 через REST API </a:t>
            </a:r>
            <a:r>
              <a:rPr lang="ru-RU" sz="800" dirty="0" err="1">
                <a:solidFill>
                  <a:schemeClr val="bg1">
                    <a:lumMod val="50000"/>
                  </a:schemeClr>
                </a:solidFill>
              </a:rPr>
              <a:t>серверної</a:t>
            </a:r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sz="800" dirty="0" err="1">
                <a:solidFill>
                  <a:schemeClr val="bg1">
                    <a:lumMod val="50000"/>
                  </a:schemeClr>
                </a:solidFill>
              </a:rPr>
              <a:t>частини</a:t>
            </a:r>
            <a:r>
              <a:rPr lang="ru-RU" sz="8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endParaRPr sz="800" b="0" dirty="0">
              <a:solidFill>
                <a:schemeClr val="bg1">
                  <a:lumMod val="50000"/>
                </a:schemeClr>
              </a:solidFill>
              <a:latin typeface="Arial"/>
            </a:endParaRPr>
          </a:p>
        </p:txBody>
      </p:sp>
      <p:pic>
        <p:nvPicPr>
          <p:cNvPr id="31" name="Picture 3" descr="se_logo_cropped.png">
            <a:extLst>
              <a:ext uri="{FF2B5EF4-FFF2-40B4-BE49-F238E27FC236}">
                <a16:creationId xmlns:a16="http://schemas.microsoft.com/office/drawing/2014/main" id="{21D9E959-9EA8-3D29-4404-E786DC801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sp>
        <p:nvSpPr>
          <p:cNvPr id="32" name="Oval 4">
            <a:extLst>
              <a:ext uri="{FF2B5EF4-FFF2-40B4-BE49-F238E27FC236}">
                <a16:creationId xmlns:a16="http://schemas.microsoft.com/office/drawing/2014/main" id="{8B2852E4-A64B-5E39-B512-845E1AFC52F5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E3554"/>
                </a:solidFill>
                <a:latin typeface="Arial"/>
              </a:rPr>
              <a:t>9</a:t>
            </a:r>
            <a:endParaRPr sz="1200" dirty="0">
              <a:solidFill>
                <a:srgbClr val="0E3554"/>
              </a:solidFill>
              <a:latin typeface="Arial"/>
            </a:endParaRP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726BDF7D-8EB8-5320-8209-3B0A64622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1" y="1256241"/>
            <a:ext cx="5971907" cy="2638091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7F5D9FC5-41D1-ABCF-56A4-BE4033CCD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167" y="4517136"/>
            <a:ext cx="3954498" cy="16141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9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310896"/>
            <a:ext cx="1148791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2400" b="1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Архітектура</a:t>
            </a:r>
            <a:r>
              <a:rPr lang="ru-RU" sz="24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1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системи</a:t>
            </a:r>
            <a:r>
              <a:rPr lang="ru-RU" sz="24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2400" b="1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Зв'язок</a:t>
            </a:r>
            <a:r>
              <a:rPr lang="ru-RU" sz="24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«</a:t>
            </a:r>
            <a:r>
              <a:rPr lang="ru-RU" sz="2400" b="1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Лікар</a:t>
            </a:r>
            <a:r>
              <a:rPr lang="ru-RU" sz="24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ru-RU" sz="2400" b="1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Пацієнт</a:t>
            </a:r>
            <a:r>
              <a:rPr lang="ru-RU" sz="24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» та </a:t>
            </a:r>
            <a:r>
              <a:rPr lang="ru-RU" sz="2400" b="1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збереження</a:t>
            </a:r>
            <a:r>
              <a:rPr lang="ru-RU" sz="24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1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призначень</a:t>
            </a:r>
            <a:endParaRPr sz="24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749808"/>
            <a:ext cx="9875520" cy="166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uk-UA" sz="1080" dirty="0">
                <a:solidFill>
                  <a:srgbClr val="586576"/>
                </a:solidFill>
                <a:latin typeface="Arial"/>
              </a:rPr>
              <a:t>Л</a:t>
            </a:r>
            <a:r>
              <a:rPr sz="1080" b="0" dirty="0" err="1">
                <a:solidFill>
                  <a:srgbClr val="586576"/>
                </a:solidFill>
                <a:latin typeface="Arial"/>
              </a:rPr>
              <a:t>огіка</a:t>
            </a:r>
            <a:r>
              <a:rPr sz="1080" b="0" dirty="0">
                <a:solidFill>
                  <a:srgbClr val="586576"/>
                </a:solidFill>
                <a:latin typeface="Arial"/>
              </a:rPr>
              <a:t>, </a:t>
            </a:r>
            <a:r>
              <a:rPr sz="1080" b="0" dirty="0" err="1">
                <a:solidFill>
                  <a:srgbClr val="586576"/>
                </a:solidFill>
                <a:latin typeface="Arial"/>
              </a:rPr>
              <a:t>яка</a:t>
            </a:r>
            <a:r>
              <a:rPr sz="1080" b="0" dirty="0">
                <a:solidFill>
                  <a:srgbClr val="586576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86576"/>
                </a:solidFill>
                <a:latin typeface="Arial"/>
              </a:rPr>
              <a:t>не</a:t>
            </a:r>
            <a:r>
              <a:rPr sz="1080" b="0" dirty="0">
                <a:solidFill>
                  <a:srgbClr val="586576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86576"/>
                </a:solidFill>
                <a:latin typeface="Arial"/>
              </a:rPr>
              <a:t>дублює</a:t>
            </a:r>
            <a:r>
              <a:rPr sz="1080" b="0" dirty="0">
                <a:solidFill>
                  <a:srgbClr val="586576"/>
                </a:solidFill>
                <a:latin typeface="Arial"/>
              </a:rPr>
              <a:t> active alert і </a:t>
            </a:r>
            <a:r>
              <a:rPr sz="1080" b="0" dirty="0" err="1">
                <a:solidFill>
                  <a:srgbClr val="586576"/>
                </a:solidFill>
                <a:latin typeface="Arial"/>
              </a:rPr>
              <a:t>не</a:t>
            </a:r>
            <a:r>
              <a:rPr sz="1080" b="0" dirty="0">
                <a:solidFill>
                  <a:srgbClr val="586576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86576"/>
                </a:solidFill>
                <a:latin typeface="Arial"/>
              </a:rPr>
              <a:t>закриває</a:t>
            </a:r>
            <a:r>
              <a:rPr sz="1080" b="0" dirty="0">
                <a:solidFill>
                  <a:srgbClr val="586576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86576"/>
                </a:solidFill>
                <a:latin typeface="Arial"/>
              </a:rPr>
              <a:t>його</a:t>
            </a:r>
            <a:r>
              <a:rPr sz="1080" b="0" dirty="0">
                <a:solidFill>
                  <a:srgbClr val="586576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86576"/>
                </a:solidFill>
                <a:latin typeface="Arial"/>
              </a:rPr>
              <a:t>після</a:t>
            </a:r>
            <a:r>
              <a:rPr sz="1080" b="0" dirty="0">
                <a:solidFill>
                  <a:srgbClr val="586576"/>
                </a:solidFill>
                <a:latin typeface="Arial"/>
              </a:rPr>
              <a:t> </a:t>
            </a:r>
            <a:r>
              <a:rPr sz="1080" b="0" dirty="0" err="1">
                <a:solidFill>
                  <a:srgbClr val="586576"/>
                </a:solidFill>
                <a:latin typeface="Arial"/>
              </a:rPr>
              <a:t>одного</a:t>
            </a:r>
            <a:r>
              <a:rPr sz="1080" b="0" dirty="0">
                <a:solidFill>
                  <a:srgbClr val="586576"/>
                </a:solidFill>
                <a:latin typeface="Arial"/>
              </a:rPr>
              <a:t> normal-</a:t>
            </a:r>
            <a:r>
              <a:rPr sz="1080" b="0" dirty="0" err="1">
                <a:solidFill>
                  <a:srgbClr val="586576"/>
                </a:solidFill>
                <a:latin typeface="Arial"/>
              </a:rPr>
              <a:t>запису</a:t>
            </a:r>
            <a:endParaRPr sz="1080" b="0" dirty="0">
              <a:solidFill>
                <a:srgbClr val="586576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4048" y="1024128"/>
            <a:ext cx="969264" cy="36576"/>
          </a:xfrm>
          <a:prstGeom prst="rect">
            <a:avLst/>
          </a:prstGeom>
          <a:solidFill>
            <a:srgbClr val="F578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5806440" cy="2057400"/>
          </a:xfrm>
          <a:prstGeom prst="roundRect">
            <a:avLst/>
          </a:prstGeom>
          <a:solidFill>
            <a:srgbClr val="091221"/>
          </a:solidFill>
          <a:ln w="12700">
            <a:solidFill>
              <a:srgbClr val="1C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799" y="1506586"/>
            <a:ext cx="544067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uk-UA" sz="1200" b="1" dirty="0">
                <a:solidFill>
                  <a:srgbClr val="FFFFFF"/>
                </a:solidFill>
                <a:latin typeface="Arial"/>
              </a:rPr>
              <a:t>Зв</a:t>
            </a:r>
            <a:r>
              <a:rPr lang="en-US" sz="1200" b="1" dirty="0">
                <a:solidFill>
                  <a:srgbClr val="FFFFFF"/>
                </a:solidFill>
                <a:latin typeface="Arial"/>
              </a:rPr>
              <a:t>’</a:t>
            </a:r>
            <a:r>
              <a:rPr lang="uk-UA" sz="1200" b="1" dirty="0" err="1">
                <a:solidFill>
                  <a:srgbClr val="FFFFFF"/>
                </a:solidFill>
                <a:latin typeface="Arial"/>
              </a:rPr>
              <a:t>язок</a:t>
            </a:r>
            <a:r>
              <a:rPr lang="uk-UA" sz="1200" b="1" dirty="0">
                <a:solidFill>
                  <a:srgbClr val="FFFFFF"/>
                </a:solidFill>
                <a:latin typeface="Arial"/>
              </a:rPr>
              <a:t> Лікар-Пацієнт</a:t>
            </a:r>
            <a:endParaRPr sz="12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7" y="1714078"/>
            <a:ext cx="5391912" cy="178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725" dirty="0">
                <a:solidFill>
                  <a:srgbClr val="EAF1F8"/>
                </a:solidFill>
                <a:latin typeface="Consolas"/>
              </a:rPr>
              <a:t>class Patient(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models.Model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):</a:t>
            </a:r>
          </a:p>
          <a:p>
            <a:r>
              <a:rPr lang="en-US" sz="725" dirty="0">
                <a:solidFill>
                  <a:srgbClr val="EAF1F8"/>
                </a:solidFill>
                <a:latin typeface="Consolas"/>
              </a:rPr>
              <a:t>    user = 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models.OneToOneField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('User', 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on_delete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=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models.CASCADE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)</a:t>
            </a:r>
          </a:p>
          <a:p>
            <a:r>
              <a:rPr lang="en-US" sz="725" dirty="0">
                <a:solidFill>
                  <a:srgbClr val="EAF1F8"/>
                </a:solidFill>
                <a:latin typeface="Consolas"/>
              </a:rPr>
              <a:t>    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date_of_birth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 = 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models.DateField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(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verbose_name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="</a:t>
            </a:r>
            <a:r>
              <a:rPr lang="ru-RU" sz="725" dirty="0">
                <a:solidFill>
                  <a:srgbClr val="EAF1F8"/>
                </a:solidFill>
                <a:latin typeface="Consolas"/>
              </a:rPr>
              <a:t>Дата </a:t>
            </a:r>
            <a:r>
              <a:rPr lang="ru-RU" sz="725" dirty="0" err="1">
                <a:solidFill>
                  <a:srgbClr val="EAF1F8"/>
                </a:solidFill>
                <a:latin typeface="Consolas"/>
              </a:rPr>
              <a:t>народження</a:t>
            </a:r>
            <a:r>
              <a:rPr lang="ru-RU" sz="725" dirty="0">
                <a:solidFill>
                  <a:srgbClr val="EAF1F8"/>
                </a:solidFill>
                <a:latin typeface="Consolas"/>
              </a:rPr>
              <a:t>")</a:t>
            </a:r>
          </a:p>
          <a:p>
            <a:r>
              <a:rPr lang="ru-RU" sz="725" dirty="0">
                <a:solidFill>
                  <a:srgbClr val="EAF1F8"/>
                </a:solidFill>
                <a:latin typeface="Consolas"/>
              </a:rPr>
              <a:t>    </a:t>
            </a:r>
          </a:p>
          <a:p>
            <a:r>
              <a:rPr lang="ru-RU" sz="725" dirty="0">
                <a:solidFill>
                  <a:srgbClr val="EAF1F8"/>
                </a:solidFill>
                <a:latin typeface="Consolas"/>
              </a:rPr>
              <a:t>    # </a:t>
            </a:r>
            <a:r>
              <a:rPr lang="ru-RU" sz="725" dirty="0" err="1">
                <a:solidFill>
                  <a:srgbClr val="EAF1F8"/>
                </a:solidFill>
                <a:latin typeface="Consolas"/>
              </a:rPr>
              <a:t>Зв'язок</a:t>
            </a:r>
            <a:r>
              <a:rPr lang="ru-RU" sz="725" dirty="0">
                <a:solidFill>
                  <a:srgbClr val="EAF1F8"/>
                </a:solidFill>
                <a:latin typeface="Consolas"/>
              </a:rPr>
              <a:t>: </a:t>
            </a:r>
            <a:r>
              <a:rPr lang="ru-RU" sz="725" dirty="0" err="1">
                <a:solidFill>
                  <a:srgbClr val="EAF1F8"/>
                </a:solidFill>
                <a:latin typeface="Consolas"/>
              </a:rPr>
              <a:t>Пацієнт</a:t>
            </a:r>
            <a:r>
              <a:rPr lang="ru-RU" sz="725" dirty="0">
                <a:solidFill>
                  <a:srgbClr val="EAF1F8"/>
                </a:solidFill>
                <a:latin typeface="Consolas"/>
              </a:rPr>
              <a:t> </a:t>
            </a:r>
            <a:r>
              <a:rPr lang="ru-RU" sz="725" dirty="0" err="1">
                <a:solidFill>
                  <a:srgbClr val="EAF1F8"/>
                </a:solidFill>
                <a:latin typeface="Consolas"/>
              </a:rPr>
              <a:t>закріплюється</a:t>
            </a:r>
            <a:r>
              <a:rPr lang="ru-RU" sz="725" dirty="0">
                <a:solidFill>
                  <a:srgbClr val="EAF1F8"/>
                </a:solidFill>
                <a:latin typeface="Consolas"/>
              </a:rPr>
              <a:t> за </a:t>
            </a:r>
            <a:r>
              <a:rPr lang="ru-RU" sz="725" dirty="0" err="1">
                <a:solidFill>
                  <a:srgbClr val="EAF1F8"/>
                </a:solidFill>
                <a:latin typeface="Consolas"/>
              </a:rPr>
              <a:t>конкретним</a:t>
            </a:r>
            <a:r>
              <a:rPr lang="ru-RU" sz="725" dirty="0">
                <a:solidFill>
                  <a:srgbClr val="EAF1F8"/>
                </a:solidFill>
                <a:latin typeface="Consolas"/>
              </a:rPr>
              <a:t> </a:t>
            </a:r>
            <a:r>
              <a:rPr lang="ru-RU" sz="725" dirty="0" err="1">
                <a:solidFill>
                  <a:srgbClr val="EAF1F8"/>
                </a:solidFill>
                <a:latin typeface="Consolas"/>
              </a:rPr>
              <a:t>лікарем</a:t>
            </a:r>
            <a:endParaRPr lang="ru-RU" sz="725" dirty="0">
              <a:solidFill>
                <a:srgbClr val="EAF1F8"/>
              </a:solidFill>
              <a:latin typeface="Consolas"/>
            </a:endParaRPr>
          </a:p>
          <a:p>
            <a:r>
              <a:rPr lang="ru-RU" sz="725" dirty="0">
                <a:solidFill>
                  <a:srgbClr val="EAF1F8"/>
                </a:solidFill>
                <a:latin typeface="Consolas"/>
              </a:rPr>
              <a:t>    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assigned_doctor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 = 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models.ForeignKey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(</a:t>
            </a:r>
          </a:p>
          <a:p>
            <a:r>
              <a:rPr lang="en-US" sz="725" dirty="0">
                <a:solidFill>
                  <a:srgbClr val="EAF1F8"/>
                </a:solidFill>
                <a:latin typeface="Consolas"/>
              </a:rPr>
              <a:t>        Doctor, </a:t>
            </a:r>
          </a:p>
          <a:p>
            <a:r>
              <a:rPr lang="en-US" sz="725" dirty="0">
                <a:solidFill>
                  <a:srgbClr val="EAF1F8"/>
                </a:solidFill>
                <a:latin typeface="Consolas"/>
              </a:rPr>
              <a:t>        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on_delete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=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models.SET_NULL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, </a:t>
            </a:r>
          </a:p>
          <a:p>
            <a:r>
              <a:rPr lang="en-US" sz="725" dirty="0">
                <a:solidFill>
                  <a:srgbClr val="EAF1F8"/>
                </a:solidFill>
                <a:latin typeface="Consolas"/>
              </a:rPr>
              <a:t>        null=True, </a:t>
            </a:r>
          </a:p>
          <a:p>
            <a:r>
              <a:rPr lang="en-US" sz="725" dirty="0">
                <a:solidFill>
                  <a:srgbClr val="EAF1F8"/>
                </a:solidFill>
                <a:latin typeface="Consolas"/>
              </a:rPr>
              <a:t>        blank=True, </a:t>
            </a:r>
          </a:p>
          <a:p>
            <a:r>
              <a:rPr lang="en-US" sz="725" dirty="0">
                <a:solidFill>
                  <a:srgbClr val="EAF1F8"/>
                </a:solidFill>
                <a:latin typeface="Consolas"/>
              </a:rPr>
              <a:t>        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related_name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="patients",</a:t>
            </a:r>
          </a:p>
          <a:p>
            <a:r>
              <a:rPr lang="en-US" sz="725" dirty="0">
                <a:solidFill>
                  <a:srgbClr val="EAF1F8"/>
                </a:solidFill>
                <a:latin typeface="Consolas"/>
              </a:rPr>
              <a:t>        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verbose_name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="</a:t>
            </a:r>
            <a:r>
              <a:rPr lang="ru-RU" sz="725" dirty="0" err="1">
                <a:solidFill>
                  <a:srgbClr val="EAF1F8"/>
                </a:solidFill>
                <a:latin typeface="Consolas"/>
              </a:rPr>
              <a:t>Лікуючий</a:t>
            </a:r>
            <a:r>
              <a:rPr lang="ru-RU" sz="725" dirty="0">
                <a:solidFill>
                  <a:srgbClr val="EAF1F8"/>
                </a:solidFill>
                <a:latin typeface="Consolas"/>
              </a:rPr>
              <a:t> </a:t>
            </a:r>
            <a:r>
              <a:rPr lang="ru-RU" sz="725" dirty="0" err="1">
                <a:solidFill>
                  <a:srgbClr val="EAF1F8"/>
                </a:solidFill>
                <a:latin typeface="Consolas"/>
              </a:rPr>
              <a:t>лікар</a:t>
            </a:r>
            <a:r>
              <a:rPr lang="ru-RU" sz="725" dirty="0">
                <a:solidFill>
                  <a:srgbClr val="EAF1F8"/>
                </a:solidFill>
                <a:latin typeface="Consolas"/>
              </a:rPr>
              <a:t>"</a:t>
            </a:r>
          </a:p>
          <a:p>
            <a:r>
              <a:rPr lang="ru-RU" sz="725" dirty="0">
                <a:solidFill>
                  <a:srgbClr val="EAF1F8"/>
                </a:solidFill>
                <a:latin typeface="Consolas"/>
              </a:rPr>
              <a:t>    )</a:t>
            </a:r>
          </a:p>
          <a:p>
            <a:endParaRPr lang="ru-RU" sz="725" dirty="0">
              <a:solidFill>
                <a:srgbClr val="EAF1F8"/>
              </a:solidFill>
              <a:latin typeface="Consolas"/>
            </a:endParaRPr>
          </a:p>
          <a:p>
            <a:r>
              <a:rPr lang="ru-RU" sz="725" dirty="0">
                <a:solidFill>
                  <a:srgbClr val="EAF1F8"/>
                </a:solidFill>
                <a:latin typeface="Consolas"/>
              </a:rPr>
              <a:t>    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def __str__(self):</a:t>
            </a:r>
          </a:p>
          <a:p>
            <a:r>
              <a:rPr lang="en-US" sz="725" dirty="0">
                <a:solidFill>
                  <a:srgbClr val="EAF1F8"/>
                </a:solidFill>
                <a:latin typeface="Consolas"/>
              </a:rPr>
              <a:t>        return f"{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self.user.first_name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} {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self.user.last_name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}"</a:t>
            </a:r>
            <a:endParaRPr sz="725" dirty="0">
              <a:solidFill>
                <a:srgbClr val="EAF1F8"/>
              </a:solidFill>
              <a:latin typeface="Consola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3849624"/>
            <a:ext cx="5806440" cy="1636776"/>
          </a:xfrm>
          <a:prstGeom prst="roundRect">
            <a:avLst/>
          </a:prstGeom>
          <a:solidFill>
            <a:srgbClr val="091221"/>
          </a:solidFill>
          <a:ln w="12700">
            <a:solidFill>
              <a:srgbClr val="1C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168" y="3845286"/>
            <a:ext cx="544067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uk-UA" sz="1200" b="1" dirty="0">
                <a:solidFill>
                  <a:srgbClr val="FFFFFF"/>
                </a:solidFill>
                <a:latin typeface="Arial"/>
              </a:rPr>
              <a:t>Управління призначеннями</a:t>
            </a:r>
            <a:endParaRPr sz="12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2625" y="4063023"/>
            <a:ext cx="3693319" cy="13388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sz="725" dirty="0">
                <a:solidFill>
                  <a:srgbClr val="EAF1F8"/>
                </a:solidFill>
                <a:latin typeface="Consolas"/>
              </a:rPr>
              <a:t>class 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PrescriptionViewSet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(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viewsets.ModelViewSet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):</a:t>
            </a:r>
          </a:p>
          <a:p>
            <a:r>
              <a:rPr lang="en-US" sz="725" dirty="0">
                <a:solidFill>
                  <a:srgbClr val="EAF1F8"/>
                </a:solidFill>
                <a:latin typeface="Consolas"/>
              </a:rPr>
              <a:t>    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queryset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 = 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Prescription.objects.all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()</a:t>
            </a:r>
          </a:p>
          <a:p>
            <a:r>
              <a:rPr lang="en-US" sz="725" dirty="0">
                <a:solidFill>
                  <a:srgbClr val="EAF1F8"/>
                </a:solidFill>
                <a:latin typeface="Consolas"/>
              </a:rPr>
              <a:t>    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serializer_class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 = 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PrescriptionSerializer</a:t>
            </a:r>
            <a:endParaRPr lang="en-US" sz="725" dirty="0">
              <a:solidFill>
                <a:srgbClr val="EAF1F8"/>
              </a:solidFill>
              <a:latin typeface="Consolas"/>
            </a:endParaRPr>
          </a:p>
          <a:p>
            <a:r>
              <a:rPr lang="en-US" sz="725" dirty="0">
                <a:solidFill>
                  <a:srgbClr val="EAF1F8"/>
                </a:solidFill>
                <a:latin typeface="Consolas"/>
              </a:rPr>
              <a:t>    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permission_classes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 = [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IsAuthenticated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]</a:t>
            </a:r>
          </a:p>
          <a:p>
            <a:r>
              <a:rPr lang="en-US" sz="725" dirty="0">
                <a:solidFill>
                  <a:srgbClr val="EAF1F8"/>
                </a:solidFill>
                <a:latin typeface="Consolas"/>
              </a:rPr>
              <a:t>    # </a:t>
            </a:r>
            <a:r>
              <a:rPr lang="ru-RU" sz="725" dirty="0">
                <a:solidFill>
                  <a:srgbClr val="EAF1F8"/>
                </a:solidFill>
                <a:latin typeface="Consolas"/>
              </a:rPr>
              <a:t>Метод </a:t>
            </a:r>
            <a:r>
              <a:rPr lang="ru-RU" sz="725" dirty="0" err="1">
                <a:solidFill>
                  <a:srgbClr val="EAF1F8"/>
                </a:solidFill>
                <a:latin typeface="Consolas"/>
              </a:rPr>
              <a:t>збереження</a:t>
            </a:r>
            <a:r>
              <a:rPr lang="ru-RU" sz="725" dirty="0">
                <a:solidFill>
                  <a:srgbClr val="EAF1F8"/>
                </a:solidFill>
                <a:latin typeface="Consolas"/>
              </a:rPr>
              <a:t> нового </a:t>
            </a:r>
            <a:r>
              <a:rPr lang="ru-RU" sz="725" dirty="0" err="1">
                <a:solidFill>
                  <a:srgbClr val="EAF1F8"/>
                </a:solidFill>
                <a:latin typeface="Consolas"/>
              </a:rPr>
              <a:t>призначення</a:t>
            </a:r>
            <a:r>
              <a:rPr lang="ru-RU" sz="725" dirty="0">
                <a:solidFill>
                  <a:srgbClr val="EAF1F8"/>
                </a:solidFill>
                <a:latin typeface="Consolas"/>
              </a:rPr>
              <a:t> </a:t>
            </a:r>
            <a:r>
              <a:rPr lang="ru-RU" sz="725" dirty="0" err="1">
                <a:solidFill>
                  <a:srgbClr val="EAF1F8"/>
                </a:solidFill>
                <a:latin typeface="Consolas"/>
              </a:rPr>
              <a:t>лікаря</a:t>
            </a:r>
            <a:endParaRPr lang="ru-RU" sz="725" dirty="0">
              <a:solidFill>
                <a:srgbClr val="EAF1F8"/>
              </a:solidFill>
              <a:latin typeface="Consolas"/>
            </a:endParaRPr>
          </a:p>
          <a:p>
            <a:r>
              <a:rPr lang="ru-RU" sz="725" dirty="0">
                <a:solidFill>
                  <a:srgbClr val="EAF1F8"/>
                </a:solidFill>
                <a:latin typeface="Consolas"/>
              </a:rPr>
              <a:t>    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def create(self, request, *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args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, **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kwargs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):</a:t>
            </a:r>
          </a:p>
          <a:p>
            <a:r>
              <a:rPr lang="en-US" sz="725" dirty="0">
                <a:solidFill>
                  <a:srgbClr val="EAF1F8"/>
                </a:solidFill>
                <a:latin typeface="Consolas"/>
              </a:rPr>
              <a:t>        serializer = 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self.get_serializer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(data=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request.data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)</a:t>
            </a:r>
          </a:p>
          <a:p>
            <a:r>
              <a:rPr lang="en-US" sz="725" dirty="0">
                <a:solidFill>
                  <a:srgbClr val="EAF1F8"/>
                </a:solidFill>
                <a:latin typeface="Consolas"/>
              </a:rPr>
              <a:t>        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serializer.is_valid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(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raise_exception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=True)</a:t>
            </a:r>
          </a:p>
          <a:p>
            <a:r>
              <a:rPr lang="en-US" sz="725" dirty="0">
                <a:solidFill>
                  <a:srgbClr val="EAF1F8"/>
                </a:solidFill>
                <a:latin typeface="Consolas"/>
              </a:rPr>
              <a:t>        # </a:t>
            </a:r>
            <a:r>
              <a:rPr lang="ru-RU" sz="725" dirty="0">
                <a:solidFill>
                  <a:srgbClr val="EAF1F8"/>
                </a:solidFill>
                <a:latin typeface="Consolas"/>
              </a:rPr>
              <a:t>Автоматично </a:t>
            </a:r>
            <a:r>
              <a:rPr lang="ru-RU" sz="725" dirty="0" err="1">
                <a:solidFill>
                  <a:srgbClr val="EAF1F8"/>
                </a:solidFill>
                <a:latin typeface="Consolas"/>
              </a:rPr>
              <a:t>прив'язуємо</a:t>
            </a:r>
            <a:r>
              <a:rPr lang="ru-RU" sz="725" dirty="0">
                <a:solidFill>
                  <a:srgbClr val="EAF1F8"/>
                </a:solidFill>
                <a:latin typeface="Consolas"/>
              </a:rPr>
              <a:t> </a:t>
            </a:r>
            <a:r>
              <a:rPr lang="ru-RU" sz="725" dirty="0" err="1">
                <a:solidFill>
                  <a:srgbClr val="EAF1F8"/>
                </a:solidFill>
                <a:latin typeface="Consolas"/>
              </a:rPr>
              <a:t>авторизованого</a:t>
            </a:r>
            <a:r>
              <a:rPr lang="ru-RU" sz="725" dirty="0">
                <a:solidFill>
                  <a:srgbClr val="EAF1F8"/>
                </a:solidFill>
                <a:latin typeface="Consolas"/>
              </a:rPr>
              <a:t> </a:t>
            </a:r>
            <a:r>
              <a:rPr lang="ru-RU" sz="725" dirty="0" err="1">
                <a:solidFill>
                  <a:srgbClr val="EAF1F8"/>
                </a:solidFill>
                <a:latin typeface="Consolas"/>
              </a:rPr>
              <a:t>лікаря</a:t>
            </a:r>
            <a:r>
              <a:rPr lang="ru-RU" sz="725" dirty="0">
                <a:solidFill>
                  <a:srgbClr val="EAF1F8"/>
                </a:solidFill>
                <a:latin typeface="Consolas"/>
              </a:rPr>
              <a:t> до </a:t>
            </a:r>
            <a:r>
              <a:rPr lang="ru-RU" sz="725" dirty="0" err="1">
                <a:solidFill>
                  <a:srgbClr val="EAF1F8"/>
                </a:solidFill>
                <a:latin typeface="Consolas"/>
              </a:rPr>
              <a:t>призначення</a:t>
            </a:r>
            <a:endParaRPr lang="ru-RU" sz="725" dirty="0">
              <a:solidFill>
                <a:srgbClr val="EAF1F8"/>
              </a:solidFill>
              <a:latin typeface="Consolas"/>
            </a:endParaRPr>
          </a:p>
          <a:p>
            <a:r>
              <a:rPr lang="ru-RU" sz="725" dirty="0">
                <a:solidFill>
                  <a:srgbClr val="EAF1F8"/>
                </a:solidFill>
                <a:latin typeface="Consolas"/>
              </a:rPr>
              <a:t>        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serializer.save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(doctor=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request.user.doctor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) </a:t>
            </a:r>
          </a:p>
          <a:p>
            <a:r>
              <a:rPr lang="en-US" sz="725" dirty="0">
                <a:solidFill>
                  <a:srgbClr val="EAF1F8"/>
                </a:solidFill>
                <a:latin typeface="Consolas"/>
              </a:rPr>
              <a:t>        </a:t>
            </a:r>
          </a:p>
          <a:p>
            <a:r>
              <a:rPr lang="en-US" sz="725" dirty="0">
                <a:solidFill>
                  <a:srgbClr val="EAF1F8"/>
                </a:solidFill>
                <a:latin typeface="Consolas"/>
              </a:rPr>
              <a:t>        return Response(</a:t>
            </a:r>
            <a:r>
              <a:rPr lang="en-US" sz="725" dirty="0" err="1">
                <a:solidFill>
                  <a:srgbClr val="EAF1F8"/>
                </a:solidFill>
                <a:latin typeface="Consolas"/>
              </a:rPr>
              <a:t>serializer.data</a:t>
            </a:r>
            <a:r>
              <a:rPr lang="en-US" sz="725" dirty="0">
                <a:solidFill>
                  <a:srgbClr val="EAF1F8"/>
                </a:solidFill>
                <a:latin typeface="Consolas"/>
              </a:rPr>
              <a:t>, status=status.HTTP_201_CREATED)</a:t>
            </a:r>
            <a:endParaRPr sz="725" dirty="0">
              <a:solidFill>
                <a:srgbClr val="EAF1F8"/>
              </a:solidFill>
              <a:latin typeface="Consola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01968" y="1298448"/>
            <a:ext cx="4983480" cy="43159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78624" y="1546113"/>
            <a:ext cx="196596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uk-UA" sz="1700" b="1" dirty="0">
                <a:solidFill>
                  <a:srgbClr val="232D3A"/>
                </a:solidFill>
                <a:latin typeface="Arial"/>
              </a:rPr>
              <a:t>Деталі алгоритмів</a:t>
            </a:r>
            <a:endParaRPr sz="1700" b="1" dirty="0">
              <a:solidFill>
                <a:srgbClr val="232D3A"/>
              </a:solidFill>
              <a:latin typeface="Arial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931152" y="2084831"/>
            <a:ext cx="310896" cy="3108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075688"/>
            <a:ext cx="2898648" cy="1815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uk-UA" sz="1180" b="1" dirty="0">
                <a:solidFill>
                  <a:srgbClr val="232D3A"/>
                </a:solidFill>
                <a:latin typeface="Arial"/>
              </a:rPr>
              <a:t>Зв</a:t>
            </a:r>
            <a:r>
              <a:rPr lang="en-US" sz="1180" b="1" dirty="0">
                <a:solidFill>
                  <a:srgbClr val="232D3A"/>
                </a:solidFill>
                <a:latin typeface="Arial"/>
              </a:rPr>
              <a:t>’</a:t>
            </a:r>
            <a:r>
              <a:rPr lang="uk-UA" sz="1180" b="1" dirty="0" err="1">
                <a:solidFill>
                  <a:srgbClr val="232D3A"/>
                </a:solidFill>
                <a:latin typeface="Arial"/>
              </a:rPr>
              <a:t>язок</a:t>
            </a:r>
            <a:r>
              <a:rPr lang="uk-UA" sz="1180" b="1" dirty="0">
                <a:solidFill>
                  <a:srgbClr val="232D3A"/>
                </a:solidFill>
                <a:latin typeface="Arial"/>
              </a:rPr>
              <a:t> Лікар-Пацієнт</a:t>
            </a:r>
            <a:endParaRPr sz="1180" b="1" dirty="0">
              <a:solidFill>
                <a:srgbClr val="232D3A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60920" y="2295144"/>
            <a:ext cx="26060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patient_id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жорстко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закріплюється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doctor_id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для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розмежування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доступу до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телеметрії</a:t>
            </a:r>
            <a:endParaRPr sz="900" b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931152" y="2788920"/>
            <a:ext cx="310896" cy="3108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779776"/>
            <a:ext cx="2606040" cy="1815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uk-UA" sz="1180" b="1" dirty="0" err="1">
                <a:solidFill>
                  <a:srgbClr val="232D3A"/>
                </a:solidFill>
                <a:latin typeface="Arial"/>
              </a:rPr>
              <a:t>Валідація</a:t>
            </a:r>
            <a:r>
              <a:rPr lang="uk-UA" sz="1180" b="1" dirty="0">
                <a:solidFill>
                  <a:srgbClr val="232D3A"/>
                </a:solidFill>
                <a:latin typeface="Arial"/>
              </a:rPr>
              <a:t> через </a:t>
            </a:r>
            <a:r>
              <a:rPr lang="en-US" sz="1180" b="1" dirty="0">
                <a:solidFill>
                  <a:srgbClr val="232D3A"/>
                </a:solidFill>
                <a:latin typeface="Arial"/>
              </a:rPr>
              <a:t>DRF</a:t>
            </a:r>
            <a:endParaRPr sz="1180" b="1" dirty="0">
              <a:solidFill>
                <a:srgbClr val="232D3A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60920" y="2999232"/>
            <a:ext cx="26060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валідація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параметрів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призначення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вправи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ліміти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датчиків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перед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записом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у базу</a:t>
            </a:r>
            <a:endParaRPr sz="900" b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931152" y="3502152"/>
            <a:ext cx="310896" cy="3108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493008"/>
            <a:ext cx="2606040" cy="1815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uk-UA" sz="1180" b="1" dirty="0">
                <a:solidFill>
                  <a:srgbClr val="232D3A"/>
                </a:solidFill>
                <a:latin typeface="Arial"/>
              </a:rPr>
              <a:t>Управління призначеннями</a:t>
            </a:r>
            <a:endParaRPr sz="1180" b="1" dirty="0">
              <a:solidFill>
                <a:srgbClr val="232D3A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60920" y="3712464"/>
            <a:ext cx="260604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визначає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автора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призначення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через токен (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request.user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виключаючи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ручне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введення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чи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підміну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лікаря</a:t>
            </a:r>
            <a:endParaRPr sz="900" b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931152" y="4261104"/>
            <a:ext cx="310896" cy="3108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251960"/>
            <a:ext cx="2606040" cy="1815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uk-UA" sz="1180" b="1" dirty="0" err="1">
                <a:solidFill>
                  <a:srgbClr val="232D3A"/>
                </a:solidFill>
                <a:latin typeface="Arial"/>
              </a:rPr>
              <a:t>Валідація</a:t>
            </a:r>
            <a:r>
              <a:rPr lang="uk-UA" sz="1180" b="1" dirty="0">
                <a:solidFill>
                  <a:srgbClr val="232D3A"/>
                </a:solidFill>
                <a:latin typeface="Arial"/>
              </a:rPr>
              <a:t> параметрів через </a:t>
            </a:r>
            <a:r>
              <a:rPr lang="en-US" sz="1180" b="1" dirty="0">
                <a:solidFill>
                  <a:srgbClr val="232D3A"/>
                </a:solidFill>
                <a:latin typeface="Arial"/>
              </a:rPr>
              <a:t>DRF</a:t>
            </a:r>
            <a:endParaRPr sz="1180" b="1" dirty="0">
              <a:solidFill>
                <a:srgbClr val="232D3A"/>
              </a:solidFill>
              <a:latin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60920" y="4471416"/>
            <a:ext cx="260604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серіалізатор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перевіряє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коректність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плану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реабілітації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(типи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вправ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ліміти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датчиків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тривалість</a:t>
            </a:r>
            <a:r>
              <a:rPr lang="ru-RU" sz="9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перед </a:t>
            </a:r>
            <a:r>
              <a:rPr lang="ru-RU" sz="9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записом</a:t>
            </a:r>
            <a:endParaRPr sz="900" b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257300" y="5806440"/>
            <a:ext cx="10104120" cy="438912"/>
          </a:xfrm>
          <a:prstGeom prst="roundRect">
            <a:avLst/>
          </a:prstGeom>
          <a:solidFill>
            <a:srgbClr val="FFF2EA"/>
          </a:solidFill>
          <a:ln w="12700">
            <a:solidFill>
              <a:srgbClr val="F578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72387" y="5862081"/>
            <a:ext cx="9646920" cy="344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20" b="0" dirty="0" err="1">
                <a:solidFill>
                  <a:srgbClr val="232D3A"/>
                </a:solidFill>
                <a:latin typeface="Arial"/>
              </a:rPr>
              <a:t>Результат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: </a:t>
            </a:r>
            <a:r>
              <a:rPr sz="1120" b="0" dirty="0" err="1">
                <a:solidFill>
                  <a:srgbClr val="232D3A"/>
                </a:solidFill>
                <a:latin typeface="Arial"/>
              </a:rPr>
              <a:t>система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 </a:t>
            </a:r>
            <a:r>
              <a:rPr lang="uk-UA" sz="1120" dirty="0">
                <a:solidFill>
                  <a:srgbClr val="232D3A"/>
                </a:solidFill>
                <a:latin typeface="Arial"/>
              </a:rPr>
              <a:t>зв</a:t>
            </a:r>
            <a:r>
              <a:rPr lang="en-US" sz="1120" dirty="0">
                <a:solidFill>
                  <a:srgbClr val="232D3A"/>
                </a:solidFill>
                <a:latin typeface="Arial"/>
              </a:rPr>
              <a:t>’</a:t>
            </a:r>
            <a:r>
              <a:rPr lang="uk-UA" sz="1120" dirty="0" err="1">
                <a:solidFill>
                  <a:srgbClr val="232D3A"/>
                </a:solidFill>
                <a:latin typeface="Arial"/>
              </a:rPr>
              <a:t>язує</a:t>
            </a:r>
            <a:r>
              <a:rPr lang="uk-UA" sz="1120" dirty="0">
                <a:solidFill>
                  <a:srgbClr val="232D3A"/>
                </a:solidFill>
                <a:latin typeface="Arial"/>
              </a:rPr>
              <a:t> конкретного лікаря з пацієнтом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, </a:t>
            </a:r>
            <a:r>
              <a:rPr lang="uk-UA" sz="1120" b="0" dirty="0">
                <a:solidFill>
                  <a:srgbClr val="232D3A"/>
                </a:solidFill>
                <a:latin typeface="Arial"/>
              </a:rPr>
              <a:t>а також лікар може назначати до </a:t>
            </a:r>
            <a:r>
              <a:rPr lang="uk-UA" sz="1120" b="0" dirty="0" err="1">
                <a:solidFill>
                  <a:srgbClr val="232D3A"/>
                </a:solidFill>
                <a:latin typeface="Arial"/>
              </a:rPr>
              <a:t>прив</a:t>
            </a:r>
            <a:r>
              <a:rPr lang="en-US" sz="1120" b="0" dirty="0">
                <a:solidFill>
                  <a:srgbClr val="232D3A"/>
                </a:solidFill>
                <a:latin typeface="Arial"/>
              </a:rPr>
              <a:t>’</a:t>
            </a:r>
            <a:r>
              <a:rPr lang="uk-UA" sz="1120" b="0" dirty="0" err="1">
                <a:solidFill>
                  <a:srgbClr val="232D3A"/>
                </a:solidFill>
                <a:latin typeface="Arial"/>
              </a:rPr>
              <a:t>язаного</a:t>
            </a:r>
            <a:r>
              <a:rPr lang="uk-UA" sz="1120" b="0" dirty="0">
                <a:solidFill>
                  <a:srgbClr val="232D3A"/>
                </a:solidFill>
                <a:latin typeface="Arial"/>
              </a:rPr>
              <a:t> з ним пацієнта план лікування який </a:t>
            </a:r>
            <a:r>
              <a:rPr lang="uk-UA" sz="1120" b="0" dirty="0" err="1">
                <a:solidFill>
                  <a:srgbClr val="232D3A"/>
                </a:solidFill>
                <a:latin typeface="Arial"/>
              </a:rPr>
              <a:t>зберігаєтся</a:t>
            </a:r>
            <a:r>
              <a:rPr lang="uk-UA" sz="1120" b="0" dirty="0">
                <a:solidFill>
                  <a:srgbClr val="232D3A"/>
                </a:solidFill>
                <a:latin typeface="Arial"/>
              </a:rPr>
              <a:t> та з</a:t>
            </a:r>
            <a:r>
              <a:rPr lang="en-US" sz="1120" b="0" dirty="0">
                <a:solidFill>
                  <a:srgbClr val="232D3A"/>
                </a:solidFill>
                <a:latin typeface="Arial"/>
              </a:rPr>
              <a:t>’</a:t>
            </a:r>
            <a:r>
              <a:rPr lang="uk-UA" sz="1120" b="0" dirty="0">
                <a:solidFill>
                  <a:srgbClr val="232D3A"/>
                </a:solidFill>
                <a:latin typeface="Arial"/>
              </a:rPr>
              <a:t>являється у пацієнта у реальному часу без оновлень</a:t>
            </a:r>
            <a:r>
              <a:rPr sz="1120" b="0" dirty="0">
                <a:solidFill>
                  <a:srgbClr val="232D3A"/>
                </a:solidFill>
                <a:latin typeface="Arial"/>
              </a:rPr>
              <a:t>.</a:t>
            </a:r>
          </a:p>
        </p:txBody>
      </p:sp>
      <p:pic>
        <p:nvPicPr>
          <p:cNvPr id="39" name="Picture 3" descr="se_logo_cropped.png">
            <a:extLst>
              <a:ext uri="{FF2B5EF4-FFF2-40B4-BE49-F238E27FC236}">
                <a16:creationId xmlns:a16="http://schemas.microsoft.com/office/drawing/2014/main" id="{3D05BCC5-6C78-D47C-E5A9-C1F1FC877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sp>
        <p:nvSpPr>
          <p:cNvPr id="40" name="Oval 4">
            <a:extLst>
              <a:ext uri="{FF2B5EF4-FFF2-40B4-BE49-F238E27FC236}">
                <a16:creationId xmlns:a16="http://schemas.microsoft.com/office/drawing/2014/main" id="{5E5898AE-150A-E2E2-1556-CF0267842745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>
                <a:solidFill>
                  <a:srgbClr val="0E3554"/>
                </a:solidFill>
                <a:latin typeface="Arial"/>
              </a:rPr>
              <a:t>1</a:t>
            </a:r>
            <a:r>
              <a:rPr lang="en-US" sz="1200" dirty="0">
                <a:solidFill>
                  <a:srgbClr val="0E3554"/>
                </a:solidFill>
                <a:latin typeface="Arial"/>
              </a:rPr>
              <a:t>1</a:t>
            </a:r>
            <a:endParaRPr sz="1200" dirty="0">
              <a:solidFill>
                <a:srgbClr val="0E3554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5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Експериментальна перевірка та результати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 err="1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Перевірено</a:t>
            </a:r>
            <a:r>
              <a:rPr lang="en-US" sz="134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uk-UA" sz="134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клієнт серверну архітектуру системи </a:t>
            </a:r>
            <a:r>
              <a:rPr lang="en-US" sz="1340" dirty="0" err="1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PhysioAssist</a:t>
            </a:r>
            <a:endParaRPr lang="en-US" sz="134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960120" cy="36576"/>
          </a:xfrm>
          <a:prstGeom prst="rect">
            <a:avLst/>
          </a:prstGeom>
          <a:solidFill>
            <a:srgbClr val="F26F21"/>
          </a:solidFill>
          <a:ln w="12700">
            <a:solidFill>
              <a:srgbClr val="F26F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987552" y="1463040"/>
            <a:ext cx="376732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1165905" y="1591056"/>
            <a:ext cx="54864" cy="676656"/>
          </a:xfrm>
          <a:prstGeom prst="rect">
            <a:avLst/>
          </a:prstGeom>
          <a:solidFill>
            <a:srgbClr val="00A6C8"/>
          </a:solidFill>
          <a:ln w="12700">
            <a:solidFill>
              <a:srgbClr val="00A6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1362456" y="1636776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uk-UA" sz="1600" b="1" dirty="0" err="1">
                <a:solidFill>
                  <a:srgbClr val="00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Автетифікація</a:t>
            </a:r>
            <a:r>
              <a:rPr lang="uk-UA" sz="1600" b="1" dirty="0">
                <a:solidFill>
                  <a:srgbClr val="00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та ролі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42845" y="1663478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Доступ </a:t>
            </a:r>
            <a:r>
              <a:rPr lang="ru-RU" sz="1400" dirty="0" err="1">
                <a:latin typeface="Arial" panose="020B0604020202020204" pitchFamily="34" charset="0"/>
                <a:cs typeface="Arial" panose="020B0604020202020204" pitchFamily="34" charset="0"/>
              </a:rPr>
              <a:t>обмежено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, JWT </a:t>
            </a:r>
            <a:r>
              <a:rPr lang="ru-RU" sz="1400" dirty="0" err="1">
                <a:latin typeface="Arial" panose="020B0604020202020204" pitchFamily="34" charset="0"/>
                <a:cs typeface="Arial" panose="020B0604020202020204" pitchFamily="34" charset="0"/>
              </a:rPr>
              <a:t>працює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 err="1">
                <a:latin typeface="Arial" panose="020B0604020202020204" pitchFamily="34" charset="0"/>
                <a:cs typeface="Arial" panose="020B0604020202020204" pitchFamily="34" charset="0"/>
              </a:rPr>
              <a:t>успішно</a:t>
            </a:r>
            <a:endParaRPr lang="en-US" sz="13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56348" y="1435608"/>
            <a:ext cx="376732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Shape 9"/>
          <p:cNvSpPr/>
          <p:nvPr/>
        </p:nvSpPr>
        <p:spPr>
          <a:xfrm>
            <a:off x="7447833" y="1568196"/>
            <a:ext cx="54864" cy="676656"/>
          </a:xfrm>
          <a:prstGeom prst="rect">
            <a:avLst/>
          </a:prstGeom>
          <a:solidFill>
            <a:schemeClr val="tx2"/>
          </a:solidFill>
          <a:ln w="12700">
            <a:solidFill>
              <a:srgbClr val="F26F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Text 10"/>
          <p:cNvSpPr/>
          <p:nvPr/>
        </p:nvSpPr>
        <p:spPr>
          <a:xfrm>
            <a:off x="7703865" y="164134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0000" lnSpcReduction="20000"/>
          </a:bodyPr>
          <a:lstStyle/>
          <a:p>
            <a:pPr marL="0" indent="0" algn="l">
              <a:buNone/>
            </a:pPr>
            <a:r>
              <a:rPr lang="uk-UA" sz="2800" b="1" dirty="0" err="1">
                <a:solidFill>
                  <a:schemeClr val="tx2"/>
                </a:solidFill>
                <a:latin typeface="Arial" pitchFamily="34" charset="0"/>
                <a:cs typeface="Arial" pitchFamily="34" charset="-120"/>
              </a:rPr>
              <a:t>Логи</a:t>
            </a:r>
            <a:r>
              <a:rPr lang="uk-UA" sz="2800" b="1" dirty="0">
                <a:solidFill>
                  <a:schemeClr val="tx2"/>
                </a:solidFill>
                <a:latin typeface="Arial" pitchFamily="34" charset="0"/>
                <a:cs typeface="Arial" pitchFamily="34" charset="-120"/>
              </a:rPr>
              <a:t> запису виконання вправ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9285098" y="1634965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1400" dirty="0" err="1">
                <a:latin typeface="Arial" panose="020B0604020202020204" pitchFamily="34" charset="0"/>
                <a:cs typeface="Arial" panose="020B0604020202020204" pitchFamily="34" charset="0"/>
              </a:rPr>
              <a:t>Дані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(VAS) </a:t>
            </a:r>
            <a:r>
              <a:rPr lang="ru-RU" sz="1400" dirty="0" err="1">
                <a:latin typeface="Arial" panose="020B0604020202020204" pitchFamily="34" charset="0"/>
                <a:cs typeface="Arial" panose="020B0604020202020204" pitchFamily="34" charset="0"/>
              </a:rPr>
              <a:t>успішно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 err="1">
                <a:latin typeface="Arial" panose="020B0604020202020204" pitchFamily="34" charset="0"/>
                <a:cs typeface="Arial" panose="020B0604020202020204" pitchFamily="34" charset="0"/>
              </a:rPr>
              <a:t>зберігаються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та </a:t>
            </a:r>
            <a:r>
              <a:rPr lang="ru-RU" sz="1400" dirty="0" err="1">
                <a:latin typeface="Arial" panose="020B0604020202020204" pitchFamily="34" charset="0"/>
                <a:cs typeface="Arial" panose="020B0604020202020204" pitchFamily="34" charset="0"/>
              </a:rPr>
              <a:t>аналізуються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178808" y="2660904"/>
            <a:ext cx="376732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9" name="Shape 17"/>
          <p:cNvSpPr/>
          <p:nvPr/>
        </p:nvSpPr>
        <p:spPr>
          <a:xfrm>
            <a:off x="4307412" y="2808741"/>
            <a:ext cx="54864" cy="676656"/>
          </a:xfrm>
          <a:prstGeom prst="rect">
            <a:avLst/>
          </a:prstGeom>
          <a:solidFill>
            <a:srgbClr val="0B3551"/>
          </a:solidFill>
          <a:ln w="12700">
            <a:solidFill>
              <a:srgbClr val="0B35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0" name="Text 18"/>
          <p:cNvSpPr/>
          <p:nvPr/>
        </p:nvSpPr>
        <p:spPr>
          <a:xfrm>
            <a:off x="4773892" y="2935224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buNone/>
            </a:pPr>
            <a:r>
              <a:rPr lang="uk-UA" sz="2800" b="1" dirty="0">
                <a:solidFill>
                  <a:srgbClr val="0B3551"/>
                </a:solidFill>
                <a:latin typeface="Arial" pitchFamily="34" charset="0"/>
                <a:cs typeface="Arial" pitchFamily="34" charset="-120"/>
              </a:rPr>
              <a:t>Конструктор програм 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415376" y="2871216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ru-RU" sz="1400" dirty="0" err="1">
                <a:latin typeface="Arial" panose="020B0604020202020204" pitchFamily="34" charset="0"/>
                <a:cs typeface="Arial" panose="020B0604020202020204" pitchFamily="34" charset="0"/>
              </a:rPr>
              <a:t>Плани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 err="1">
                <a:latin typeface="Arial" panose="020B0604020202020204" pitchFamily="34" charset="0"/>
                <a:cs typeface="Arial" panose="020B0604020202020204" pitchFamily="34" charset="0"/>
              </a:rPr>
              <a:t>лікаря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dirty="0" err="1">
                <a:latin typeface="Arial" panose="020B0604020202020204" pitchFamily="34" charset="0"/>
                <a:cs typeface="Arial" panose="020B0604020202020204" pitchFamily="34" charset="0"/>
              </a:rPr>
              <a:t>синхронізуються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з </a:t>
            </a:r>
            <a:r>
              <a:rPr lang="ru-RU" sz="1400" dirty="0" err="1">
                <a:latin typeface="Arial" panose="020B0604020202020204" pitchFamily="34" charset="0"/>
                <a:cs typeface="Arial" panose="020B0604020202020204" pitchFamily="34" charset="0"/>
              </a:rPr>
              <a:t>пацієнтом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2739352" y="3759717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5" name="Text 43"/>
          <p:cNvSpPr/>
          <p:nvPr/>
        </p:nvSpPr>
        <p:spPr>
          <a:xfrm>
            <a:off x="2948985" y="38953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5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Підсумок перевірки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2948985" y="4392926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ru-RU" sz="1400" dirty="0"/>
              <a:t>Система </a:t>
            </a:r>
            <a:r>
              <a:rPr lang="ru-RU" sz="1400" b="1" dirty="0" err="1"/>
              <a:t>PhysioAssist</a:t>
            </a:r>
            <a:r>
              <a:rPr lang="ru-RU" sz="1400" dirty="0"/>
              <a:t> </a:t>
            </a:r>
            <a:r>
              <a:rPr lang="ru-RU" sz="1400" dirty="0" err="1"/>
              <a:t>успішно</a:t>
            </a:r>
            <a:r>
              <a:rPr lang="ru-RU" sz="1400" dirty="0"/>
              <a:t> </a:t>
            </a:r>
            <a:r>
              <a:rPr lang="ru-RU" sz="1400" dirty="0" err="1"/>
              <a:t>пройшла</a:t>
            </a:r>
            <a:r>
              <a:rPr lang="ru-RU" sz="1400" dirty="0"/>
              <a:t> </a:t>
            </a:r>
            <a:r>
              <a:rPr lang="ru-RU" sz="1400" dirty="0" err="1"/>
              <a:t>всі</a:t>
            </a:r>
            <a:r>
              <a:rPr lang="ru-RU" sz="1400" dirty="0"/>
              <a:t> </a:t>
            </a:r>
            <a:r>
              <a:rPr lang="ru-RU" sz="1400" dirty="0" err="1"/>
              <a:t>етапи</a:t>
            </a:r>
            <a:r>
              <a:rPr lang="ru-RU" sz="1400" dirty="0"/>
              <a:t> </a:t>
            </a:r>
            <a:r>
              <a:rPr lang="ru-RU" sz="1400" dirty="0" err="1"/>
              <a:t>тестування</a:t>
            </a:r>
            <a:r>
              <a:rPr lang="ru-RU" sz="1400" dirty="0"/>
              <a:t>. </a:t>
            </a:r>
            <a:r>
              <a:rPr lang="ru-RU" sz="1400" dirty="0" err="1"/>
              <a:t>Критичних</a:t>
            </a:r>
            <a:r>
              <a:rPr lang="ru-RU" sz="1400" dirty="0"/>
              <a:t> </a:t>
            </a:r>
            <a:r>
              <a:rPr lang="ru-RU" sz="1400" dirty="0" err="1"/>
              <a:t>дефектів</a:t>
            </a:r>
            <a:r>
              <a:rPr lang="ru-RU" sz="1400" dirty="0"/>
              <a:t> не </a:t>
            </a:r>
            <a:r>
              <a:rPr lang="ru-RU" sz="1400" dirty="0" err="1"/>
              <a:t>виявлено</a:t>
            </a:r>
            <a:r>
              <a:rPr lang="ru-RU" sz="1400" dirty="0"/>
              <a:t>, продукт </a:t>
            </a:r>
            <a:r>
              <a:rPr lang="ru-RU" sz="1400" dirty="0" err="1"/>
              <a:t>повністю</a:t>
            </a:r>
            <a:r>
              <a:rPr lang="ru-RU" sz="1400" dirty="0"/>
              <a:t> </a:t>
            </a:r>
            <a:r>
              <a:rPr lang="ru-RU" sz="1400" dirty="0" err="1"/>
              <a:t>готовий</a:t>
            </a:r>
            <a:r>
              <a:rPr lang="ru-RU" sz="1400" dirty="0"/>
              <a:t> до </a:t>
            </a:r>
            <a:r>
              <a:rPr lang="ru-RU" sz="1400" dirty="0" err="1"/>
              <a:t>експлуатації</a:t>
            </a:r>
            <a:r>
              <a:rPr lang="ru-RU" sz="1400" dirty="0"/>
              <a:t>.</a:t>
            </a:r>
            <a:endParaRPr lang="en-US" sz="1400" dirty="0"/>
          </a:p>
        </p:txBody>
      </p:sp>
      <p:grpSp>
        <p:nvGrpSpPr>
          <p:cNvPr id="56" name="Групувати 55">
            <a:extLst>
              <a:ext uri="{FF2B5EF4-FFF2-40B4-BE49-F238E27FC236}">
                <a16:creationId xmlns:a16="http://schemas.microsoft.com/office/drawing/2014/main" id="{E8F70EC3-705E-0333-D511-D9117012B5D6}"/>
              </a:ext>
            </a:extLst>
          </p:cNvPr>
          <p:cNvGrpSpPr/>
          <p:nvPr/>
        </p:nvGrpSpPr>
        <p:grpSpPr>
          <a:xfrm>
            <a:off x="2948985" y="5394960"/>
            <a:ext cx="4800600" cy="310896"/>
            <a:chOff x="6633972" y="5367528"/>
            <a:chExt cx="4800600" cy="310896"/>
          </a:xfrm>
        </p:grpSpPr>
        <p:sp>
          <p:nvSpPr>
            <p:cNvPr id="52" name="Shape 50"/>
            <p:cNvSpPr/>
            <p:nvPr/>
          </p:nvSpPr>
          <p:spPr>
            <a:xfrm>
              <a:off x="6633972" y="5367528"/>
              <a:ext cx="4800600" cy="310896"/>
            </a:xfrm>
            <a:prstGeom prst="roundRect">
              <a:avLst>
                <a:gd name="adj" fmla="val 11765"/>
              </a:avLst>
            </a:prstGeom>
            <a:solidFill>
              <a:srgbClr val="F0F7FE"/>
            </a:solidFill>
            <a:ln w="12700">
              <a:solidFill>
                <a:srgbClr val="BDD8F0"/>
              </a:solidFill>
              <a:prstDash val="solid"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3" name="Text 51"/>
            <p:cNvSpPr/>
            <p:nvPr/>
          </p:nvSpPr>
          <p:spPr>
            <a:xfrm>
              <a:off x="6780276" y="5431536"/>
              <a:ext cx="4343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85000" lnSpcReduction="10000"/>
            </a:bodyPr>
            <a:lstStyle/>
            <a:p>
              <a:pPr marL="0" indent="0" algn="l">
                <a:buNone/>
              </a:pPr>
              <a:r>
                <a:rPr lang="en-US" sz="1080" b="1" dirty="0">
                  <a:solidFill>
                    <a:srgbClr val="0B35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Локальна перевірка підтвердила стабільність основних сценаріїв системи.</a:t>
              </a:r>
              <a:endParaRPr lang="en-US" sz="1080" dirty="0"/>
            </a:p>
          </p:txBody>
        </p:sp>
      </p:grpSp>
      <p:pic>
        <p:nvPicPr>
          <p:cNvPr id="54" name="Picture 3" descr="se_logo_cropped.png">
            <a:extLst>
              <a:ext uri="{FF2B5EF4-FFF2-40B4-BE49-F238E27FC236}">
                <a16:creationId xmlns:a16="http://schemas.microsoft.com/office/drawing/2014/main" id="{22950E38-1595-812E-A1FE-66D829E95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sp>
        <p:nvSpPr>
          <p:cNvPr id="57" name="Oval 4">
            <a:extLst>
              <a:ext uri="{FF2B5EF4-FFF2-40B4-BE49-F238E27FC236}">
                <a16:creationId xmlns:a16="http://schemas.microsoft.com/office/drawing/2014/main" id="{03EFD549-B5C2-B553-D9D9-FEFA018735C8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>
                <a:solidFill>
                  <a:srgbClr val="0E3554"/>
                </a:solidFill>
                <a:latin typeface="Arial"/>
              </a:rPr>
              <a:t>1</a:t>
            </a:r>
            <a:r>
              <a:rPr lang="en-US" sz="1200" dirty="0">
                <a:solidFill>
                  <a:srgbClr val="0E3554"/>
                </a:solidFill>
                <a:latin typeface="Arial"/>
              </a:rPr>
              <a:t>2</a:t>
            </a:r>
            <a:endParaRPr sz="1200" dirty="0">
              <a:solidFill>
                <a:srgbClr val="0E3554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09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420624"/>
            <a:ext cx="91440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22D39"/>
                </a:solidFill>
                <a:latin typeface="Arial"/>
              </a:rPr>
              <a:t>Висновки та подальший розвиток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7132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0">
                <a:solidFill>
                  <a:srgbClr val="5C6879"/>
                </a:solidFill>
                <a:latin typeface="Arial"/>
              </a:rPr>
              <a:t>Що реалізовано та як можна розвивати систему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72184"/>
            <a:ext cx="1078992" cy="36576"/>
          </a:xfrm>
          <a:prstGeom prst="rect">
            <a:avLst/>
          </a:prstGeom>
          <a:solidFill>
            <a:srgbClr val="F56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1" name="Групувати 20">
            <a:extLst>
              <a:ext uri="{FF2B5EF4-FFF2-40B4-BE49-F238E27FC236}">
                <a16:creationId xmlns:a16="http://schemas.microsoft.com/office/drawing/2014/main" id="{54BB0834-06D6-A760-C497-A53E2B0D2241}"/>
              </a:ext>
            </a:extLst>
          </p:cNvPr>
          <p:cNvGrpSpPr/>
          <p:nvPr/>
        </p:nvGrpSpPr>
        <p:grpSpPr>
          <a:xfrm>
            <a:off x="978408" y="1694864"/>
            <a:ext cx="10186416" cy="1538883"/>
            <a:chOff x="969264" y="2487168"/>
            <a:chExt cx="10186416" cy="1538883"/>
          </a:xfrm>
        </p:grpSpPr>
        <p:sp>
          <p:nvSpPr>
            <p:cNvPr id="10" name="TextBox 9"/>
            <p:cNvSpPr txBox="1"/>
            <p:nvPr/>
          </p:nvSpPr>
          <p:spPr>
            <a:xfrm>
              <a:off x="969264" y="2496312"/>
              <a:ext cx="210312" cy="2560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900" b="0" dirty="0">
                  <a:solidFill>
                    <a:srgbClr val="000000"/>
                  </a:solidFill>
                  <a:latin typeface="Arial"/>
                </a:rPr>
                <a:t>•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98448" y="2487168"/>
              <a:ext cx="9857232" cy="15388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ru-RU" sz="2000" b="1" dirty="0" err="1"/>
                <a:t>Проєктування</a:t>
              </a:r>
              <a:r>
                <a:rPr lang="ru-RU" sz="2000" b="1" dirty="0"/>
                <a:t> та </a:t>
              </a:r>
              <a:r>
                <a:rPr lang="ru-RU" sz="2000" b="1" dirty="0" err="1"/>
                <a:t>клінічна</a:t>
              </a:r>
              <a:r>
                <a:rPr lang="ru-RU" sz="2000" b="1" dirty="0"/>
                <a:t> </a:t>
              </a:r>
              <a:r>
                <a:rPr lang="ru-RU" sz="2000" b="1" dirty="0" err="1"/>
                <a:t>адаптація</a:t>
              </a:r>
              <a:r>
                <a:rPr lang="ru-RU" sz="2000" b="1" dirty="0"/>
                <a:t>:</a:t>
              </a:r>
              <a:r>
                <a:rPr lang="ru-RU" sz="2000" dirty="0"/>
                <a:t> На </a:t>
              </a:r>
              <a:r>
                <a:rPr lang="ru-RU" sz="2000" dirty="0" err="1"/>
                <a:t>основі</a:t>
              </a:r>
              <a:r>
                <a:rPr lang="ru-RU" sz="2000" dirty="0"/>
                <a:t> детального </a:t>
              </a:r>
              <a:r>
                <a:rPr lang="ru-RU" sz="2000" dirty="0" err="1"/>
                <a:t>аналізу</a:t>
              </a:r>
              <a:r>
                <a:rPr lang="ru-RU" sz="2000" dirty="0"/>
                <a:t> </a:t>
              </a:r>
              <a:r>
                <a:rPr lang="ru-RU" sz="2000" dirty="0" err="1"/>
                <a:t>предметної</a:t>
              </a:r>
              <a:r>
                <a:rPr lang="ru-RU" sz="2000" dirty="0"/>
                <a:t> </a:t>
              </a:r>
              <a:r>
                <a:rPr lang="ru-RU" sz="2000" dirty="0" err="1"/>
                <a:t>галузі</a:t>
              </a:r>
              <a:r>
                <a:rPr lang="ru-RU" sz="2000" dirty="0"/>
                <a:t> </a:t>
              </a:r>
              <a:r>
                <a:rPr lang="ru-RU" sz="2000" dirty="0" err="1"/>
                <a:t>було</a:t>
              </a:r>
              <a:r>
                <a:rPr lang="ru-RU" sz="2000" dirty="0"/>
                <a:t> створено </a:t>
              </a:r>
              <a:r>
                <a:rPr lang="ru-RU" sz="2000" dirty="0" err="1"/>
                <a:t>зручне</a:t>
              </a:r>
              <a:r>
                <a:rPr lang="ru-RU" sz="2000" dirty="0"/>
                <a:t> </a:t>
              </a:r>
              <a:r>
                <a:rPr lang="ru-RU" sz="2000" dirty="0" err="1"/>
                <a:t>клієнт-серверне</a:t>
              </a:r>
              <a:r>
                <a:rPr lang="ru-RU" sz="2000" dirty="0"/>
                <a:t> </a:t>
              </a:r>
              <a:r>
                <a:rPr lang="ru-RU" sz="2000" dirty="0" err="1"/>
                <a:t>рішення</a:t>
              </a:r>
              <a:r>
                <a:rPr lang="ru-RU" sz="2000" dirty="0"/>
                <a:t>, яке </a:t>
              </a:r>
              <a:r>
                <a:rPr lang="ru-RU" sz="2000" dirty="0" err="1"/>
                <a:t>оптимізує</a:t>
              </a:r>
              <a:r>
                <a:rPr lang="ru-RU" sz="2000" dirty="0"/>
                <a:t> </a:t>
              </a:r>
              <a:r>
                <a:rPr lang="ru-RU" sz="2000" dirty="0" err="1"/>
                <a:t>робочий</a:t>
              </a:r>
              <a:r>
                <a:rPr lang="ru-RU" sz="2000" dirty="0"/>
                <a:t> час </a:t>
              </a:r>
              <a:r>
                <a:rPr lang="ru-RU" sz="2000" dirty="0" err="1"/>
                <a:t>фізіотерапевтів</a:t>
              </a:r>
              <a:r>
                <a:rPr lang="ru-RU" sz="2000" dirty="0"/>
                <a:t> та </a:t>
              </a:r>
              <a:r>
                <a:rPr lang="ru-RU" sz="2000" dirty="0" err="1"/>
                <a:t>спрощує</a:t>
              </a:r>
              <a:r>
                <a:rPr lang="ru-RU" sz="2000" dirty="0"/>
                <a:t> </a:t>
              </a:r>
              <a:r>
                <a:rPr lang="ru-RU" sz="2000" dirty="0" err="1"/>
                <a:t>пацієнтам</a:t>
              </a:r>
              <a:r>
                <a:rPr lang="ru-RU" sz="2000" dirty="0"/>
                <a:t> </a:t>
              </a:r>
              <a:r>
                <a:rPr lang="ru-RU" sz="2000" dirty="0" err="1"/>
                <a:t>процес</a:t>
              </a:r>
              <a:r>
                <a:rPr lang="ru-RU" sz="2000" dirty="0"/>
                <a:t> </a:t>
              </a:r>
              <a:r>
                <a:rPr lang="ru-RU" sz="2000" dirty="0" err="1"/>
                <a:t>одужання</a:t>
              </a:r>
              <a:r>
                <a:rPr lang="ru-RU" sz="2000" dirty="0"/>
                <a:t>. У </a:t>
              </a:r>
              <a:r>
                <a:rPr lang="ru-RU" sz="2000" dirty="0" err="1"/>
                <a:t>перспективі</a:t>
              </a:r>
              <a:r>
                <a:rPr lang="ru-RU" sz="2000" dirty="0"/>
                <a:t> </a:t>
              </a:r>
              <a:r>
                <a:rPr lang="ru-RU" sz="2000" dirty="0" err="1"/>
                <a:t>цей</a:t>
              </a:r>
              <a:r>
                <a:rPr lang="ru-RU" sz="2000" dirty="0"/>
                <a:t> </a:t>
              </a:r>
              <a:r>
                <a:rPr lang="ru-RU" sz="2000" dirty="0" err="1"/>
                <a:t>напрямок</a:t>
              </a:r>
              <a:r>
                <a:rPr lang="ru-RU" sz="2000" dirty="0"/>
                <a:t> </a:t>
              </a:r>
              <a:r>
                <a:rPr lang="ru-RU" sz="2000" dirty="0" err="1"/>
                <a:t>планується</a:t>
              </a:r>
              <a:r>
                <a:rPr lang="ru-RU" sz="2000" dirty="0"/>
                <a:t> </a:t>
              </a:r>
              <a:r>
                <a:rPr lang="ru-RU" sz="2000" dirty="0" err="1"/>
                <a:t>розвивати</a:t>
              </a:r>
              <a:r>
                <a:rPr lang="ru-RU" sz="2000" dirty="0"/>
                <a:t> шляхом </a:t>
              </a:r>
              <a:r>
                <a:rPr lang="ru-RU" sz="2000" dirty="0" err="1"/>
                <a:t>впровадження</a:t>
              </a:r>
              <a:r>
                <a:rPr lang="ru-RU" sz="2000" dirty="0"/>
                <a:t> </a:t>
              </a:r>
              <a:r>
                <a:rPr lang="ru-RU" sz="2000" dirty="0" err="1"/>
                <a:t>інтелектуальної</a:t>
              </a:r>
              <a:r>
                <a:rPr lang="ru-RU" sz="2000" dirty="0"/>
                <a:t> </a:t>
              </a:r>
              <a:r>
                <a:rPr lang="ru-RU" sz="2000" dirty="0" err="1"/>
                <a:t>системи</a:t>
              </a:r>
              <a:r>
                <a:rPr lang="ru-RU" sz="2000" dirty="0"/>
                <a:t> </a:t>
              </a:r>
              <a:r>
                <a:rPr lang="ru-RU" sz="2000" dirty="0" err="1"/>
                <a:t>рекомендацій</a:t>
              </a:r>
              <a:r>
                <a:rPr lang="ru-RU" sz="2000" dirty="0"/>
                <a:t>, </a:t>
              </a:r>
              <a:r>
                <a:rPr lang="ru-RU" sz="2000" dirty="0" err="1"/>
                <a:t>що</a:t>
              </a:r>
              <a:r>
                <a:rPr lang="ru-RU" sz="2000" dirty="0"/>
                <a:t> </a:t>
              </a:r>
              <a:r>
                <a:rPr lang="ru-RU" sz="2000" dirty="0" err="1"/>
                <a:t>аналізуватиме</a:t>
              </a:r>
              <a:r>
                <a:rPr lang="ru-RU" sz="2000" dirty="0"/>
                <a:t> </a:t>
              </a:r>
              <a:r>
                <a:rPr lang="ru-RU" sz="2000" dirty="0" err="1"/>
                <a:t>накопичені</a:t>
              </a:r>
              <a:r>
                <a:rPr lang="ru-RU" sz="2000" dirty="0"/>
                <a:t> </a:t>
              </a:r>
              <a:r>
                <a:rPr lang="ru-RU" sz="2000" dirty="0" err="1"/>
                <a:t>звіти</a:t>
              </a:r>
              <a:r>
                <a:rPr lang="ru-RU" sz="2000" dirty="0"/>
                <a:t> </a:t>
              </a:r>
              <a:r>
                <a:rPr lang="ru-RU" sz="2000" dirty="0" err="1"/>
                <a:t>пацієнтів</a:t>
              </a:r>
              <a:r>
                <a:rPr lang="ru-RU" sz="2000" dirty="0"/>
                <a:t> і </a:t>
              </a:r>
              <a:r>
                <a:rPr lang="ru-RU" sz="2000" dirty="0" err="1"/>
                <a:t>допомагатиме</a:t>
              </a:r>
              <a:r>
                <a:rPr lang="ru-RU" sz="2000" dirty="0"/>
                <a:t> </a:t>
              </a:r>
              <a:r>
                <a:rPr lang="ru-RU" sz="2000" dirty="0" err="1"/>
                <a:t>лікарю</a:t>
              </a:r>
              <a:r>
                <a:rPr lang="ru-RU" sz="2000" dirty="0"/>
                <a:t> </a:t>
              </a:r>
              <a:r>
                <a:rPr lang="ru-RU" sz="2000" dirty="0" err="1"/>
                <a:t>коригувати</a:t>
              </a:r>
              <a:r>
                <a:rPr lang="ru-RU" sz="2000" dirty="0"/>
                <a:t> </a:t>
              </a:r>
              <a:r>
                <a:rPr lang="ru-RU" sz="2000" dirty="0" err="1"/>
                <a:t>плани</a:t>
              </a:r>
              <a:r>
                <a:rPr lang="ru-RU" sz="2000" dirty="0"/>
                <a:t> занять.</a:t>
              </a:r>
              <a:endParaRPr sz="1860" b="0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" name="Групувати 21">
            <a:extLst>
              <a:ext uri="{FF2B5EF4-FFF2-40B4-BE49-F238E27FC236}">
                <a16:creationId xmlns:a16="http://schemas.microsoft.com/office/drawing/2014/main" id="{2D88EBF7-46B6-21FA-026E-2642929E4235}"/>
              </a:ext>
            </a:extLst>
          </p:cNvPr>
          <p:cNvGrpSpPr/>
          <p:nvPr/>
        </p:nvGrpSpPr>
        <p:grpSpPr>
          <a:xfrm>
            <a:off x="978408" y="3408625"/>
            <a:ext cx="10186416" cy="1415772"/>
            <a:chOff x="969264" y="3767328"/>
            <a:chExt cx="10186416" cy="1415772"/>
          </a:xfrm>
        </p:grpSpPr>
        <p:sp>
          <p:nvSpPr>
            <p:cNvPr id="12" name="TextBox 11"/>
            <p:cNvSpPr txBox="1"/>
            <p:nvPr/>
          </p:nvSpPr>
          <p:spPr>
            <a:xfrm>
              <a:off x="969264" y="3776472"/>
              <a:ext cx="210312" cy="2560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900" b="0">
                  <a:solidFill>
                    <a:srgbClr val="000000"/>
                  </a:solidFill>
                  <a:latin typeface="Arial"/>
                </a:rPr>
                <a:t>•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98448" y="3767328"/>
              <a:ext cx="9857232" cy="141577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ru-RU" b="1" dirty="0" err="1"/>
                <a:t>Архітектурна</a:t>
              </a:r>
              <a:r>
                <a:rPr lang="ru-RU" b="1" dirty="0"/>
                <a:t> </a:t>
              </a:r>
              <a:r>
                <a:rPr lang="ru-RU" b="1" dirty="0" err="1"/>
                <a:t>надійність</a:t>
              </a:r>
              <a:r>
                <a:rPr lang="ru-RU" b="1" dirty="0"/>
                <a:t> та </a:t>
              </a:r>
              <a:r>
                <a:rPr lang="ru-RU" b="1" dirty="0" err="1"/>
                <a:t>розширення</a:t>
              </a:r>
              <a:r>
                <a:rPr lang="ru-RU" b="1" dirty="0"/>
                <a:t> </a:t>
              </a:r>
              <a:r>
                <a:rPr lang="ru-RU" b="1" dirty="0" err="1"/>
                <a:t>платформи</a:t>
              </a:r>
              <a:r>
                <a:rPr lang="ru-RU" b="1" dirty="0"/>
                <a:t>:</a:t>
              </a:r>
              <a:r>
                <a:rPr lang="ru-RU" dirty="0"/>
                <a:t> </a:t>
              </a:r>
              <a:r>
                <a:rPr lang="ru-RU" dirty="0" err="1"/>
                <a:t>Реалізовано</a:t>
              </a:r>
              <a:r>
                <a:rPr lang="ru-RU" dirty="0"/>
                <a:t> </a:t>
              </a:r>
              <a:r>
                <a:rPr lang="ru-RU" dirty="0" err="1"/>
                <a:t>стійкий</a:t>
              </a:r>
              <a:r>
                <a:rPr lang="ru-RU" dirty="0"/>
                <a:t> </a:t>
              </a:r>
              <a:r>
                <a:rPr lang="ru-RU" dirty="0" err="1"/>
                <a:t>бекенд</a:t>
              </a:r>
              <a:r>
                <a:rPr lang="ru-RU" dirty="0"/>
                <a:t> на </a:t>
              </a:r>
              <a:r>
                <a:rPr lang="ru-RU" dirty="0" err="1"/>
                <a:t>Django</a:t>
              </a:r>
              <a:r>
                <a:rPr lang="ru-RU" dirty="0"/>
                <a:t> REST Framework та базу </a:t>
              </a:r>
              <a:r>
                <a:rPr lang="ru-RU" dirty="0" err="1"/>
                <a:t>даних</a:t>
              </a:r>
              <a:r>
                <a:rPr lang="ru-RU" dirty="0"/>
                <a:t> </a:t>
              </a:r>
              <a:r>
                <a:rPr lang="ru-RU" dirty="0" err="1"/>
                <a:t>PostgreSQL</a:t>
              </a:r>
              <a:r>
                <a:rPr lang="ru-RU" dirty="0"/>
                <a:t> </a:t>
              </a:r>
              <a:r>
                <a:rPr lang="ru-RU" dirty="0" err="1"/>
                <a:t>із</a:t>
              </a:r>
              <a:r>
                <a:rPr lang="ru-RU" dirty="0"/>
                <a:t> </a:t>
              </a:r>
              <a:r>
                <a:rPr lang="ru-RU" dirty="0" err="1"/>
                <a:t>чітким</a:t>
              </a:r>
              <a:r>
                <a:rPr lang="ru-RU" dirty="0"/>
                <a:t> </a:t>
              </a:r>
              <a:r>
                <a:rPr lang="ru-RU" dirty="0" err="1"/>
                <a:t>розмежуванням</a:t>
              </a:r>
              <a:r>
                <a:rPr lang="ru-RU" dirty="0"/>
                <a:t> прав доступу за </a:t>
              </a:r>
              <a:r>
                <a:rPr lang="ru-RU" dirty="0" err="1"/>
                <a:t>допомогою</a:t>
              </a:r>
              <a:r>
                <a:rPr lang="ru-RU" dirty="0"/>
                <a:t> JWT. </a:t>
              </a:r>
              <a:r>
                <a:rPr lang="ru-RU" dirty="0" err="1"/>
                <a:t>Масштабованість</a:t>
              </a:r>
              <a:r>
                <a:rPr lang="ru-RU" dirty="0"/>
                <a:t> </a:t>
              </a:r>
              <a:r>
                <a:rPr lang="ru-RU" dirty="0" err="1"/>
                <a:t>розробленої</a:t>
              </a:r>
              <a:r>
                <a:rPr lang="ru-RU" dirty="0"/>
                <a:t> </a:t>
              </a:r>
              <a:r>
                <a:rPr lang="ru-RU" dirty="0" err="1"/>
                <a:t>архітектури</a:t>
              </a:r>
              <a:r>
                <a:rPr lang="ru-RU" dirty="0"/>
                <a:t> </a:t>
              </a:r>
              <a:r>
                <a:rPr lang="ru-RU" dirty="0" err="1"/>
                <a:t>дозволяє</a:t>
              </a:r>
              <a:r>
                <a:rPr lang="ru-RU" dirty="0"/>
                <a:t> в </a:t>
              </a:r>
              <a:r>
                <a:rPr lang="ru-RU" dirty="0" err="1"/>
                <a:t>майбутньому</a:t>
              </a:r>
              <a:r>
                <a:rPr lang="ru-RU" dirty="0"/>
                <a:t> легко перенести та </a:t>
              </a:r>
              <a:r>
                <a:rPr lang="ru-RU" dirty="0" err="1"/>
                <a:t>адаптувати</a:t>
              </a:r>
              <a:r>
                <a:rPr lang="ru-RU" dirty="0"/>
                <a:t> </a:t>
              </a:r>
              <a:r>
                <a:rPr lang="ru-RU" dirty="0" err="1"/>
                <a:t>цей</a:t>
              </a:r>
              <a:r>
                <a:rPr lang="ru-RU" dirty="0"/>
                <a:t> </a:t>
              </a:r>
              <a:r>
                <a:rPr lang="ru-RU" dirty="0" err="1"/>
                <a:t>функціонал</a:t>
              </a:r>
              <a:r>
                <a:rPr lang="ru-RU" dirty="0"/>
                <a:t> для </a:t>
              </a:r>
              <a:r>
                <a:rPr lang="ru-RU" dirty="0" err="1"/>
                <a:t>окремого</a:t>
              </a:r>
              <a:r>
                <a:rPr lang="ru-RU" dirty="0"/>
                <a:t> </a:t>
              </a:r>
              <a:r>
                <a:rPr lang="ru-RU" dirty="0" err="1"/>
                <a:t>мобільного</a:t>
              </a:r>
              <a:r>
                <a:rPr lang="ru-RU" dirty="0"/>
                <a:t> </a:t>
              </a:r>
              <a:r>
                <a:rPr lang="ru-RU" dirty="0" err="1"/>
                <a:t>застосунку</a:t>
              </a:r>
              <a:r>
                <a:rPr lang="ru-RU" dirty="0"/>
                <a:t>, </a:t>
              </a:r>
              <a:r>
                <a:rPr lang="ru-RU" dirty="0" err="1"/>
                <a:t>забезпечуючи</a:t>
              </a:r>
              <a:r>
                <a:rPr lang="ru-RU" dirty="0"/>
                <a:t> </a:t>
              </a:r>
              <a:r>
                <a:rPr lang="ru-RU" dirty="0" err="1"/>
                <a:t>пацієнтам</a:t>
              </a:r>
              <a:r>
                <a:rPr lang="ru-RU" dirty="0"/>
                <a:t> </a:t>
              </a:r>
              <a:r>
                <a:rPr lang="ru-RU" dirty="0" err="1"/>
                <a:t>ще</a:t>
              </a:r>
              <a:r>
                <a:rPr lang="ru-RU" dirty="0"/>
                <a:t> </a:t>
              </a:r>
              <a:r>
                <a:rPr lang="ru-RU" dirty="0" err="1"/>
                <a:t>більший</a:t>
              </a:r>
              <a:r>
                <a:rPr lang="ru-RU" dirty="0"/>
                <a:t> </a:t>
              </a:r>
              <a:r>
                <a:rPr lang="ru-RU" dirty="0" err="1"/>
                <a:t>рівень</a:t>
              </a:r>
              <a:r>
                <a:rPr lang="ru-RU" dirty="0"/>
                <a:t> </a:t>
              </a:r>
              <a:r>
                <a:rPr lang="ru-RU" dirty="0" err="1"/>
                <a:t>зручності</a:t>
              </a:r>
              <a:r>
                <a:rPr lang="ru-RU" dirty="0"/>
                <a:t>.</a:t>
              </a:r>
              <a:r>
                <a:rPr lang="ru-RU" sz="2000" dirty="0"/>
                <a:t> </a:t>
              </a:r>
              <a:endParaRPr sz="1860" b="0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" name="Групувати 22">
            <a:extLst>
              <a:ext uri="{FF2B5EF4-FFF2-40B4-BE49-F238E27FC236}">
                <a16:creationId xmlns:a16="http://schemas.microsoft.com/office/drawing/2014/main" id="{51C391C0-F12B-9769-2334-2AD0083FC82C}"/>
              </a:ext>
            </a:extLst>
          </p:cNvPr>
          <p:cNvGrpSpPr/>
          <p:nvPr/>
        </p:nvGrpSpPr>
        <p:grpSpPr>
          <a:xfrm>
            <a:off x="978408" y="4992325"/>
            <a:ext cx="10186416" cy="1538883"/>
            <a:chOff x="969264" y="4979682"/>
            <a:chExt cx="10186416" cy="1538883"/>
          </a:xfrm>
        </p:grpSpPr>
        <p:sp>
          <p:nvSpPr>
            <p:cNvPr id="14" name="TextBox 13"/>
            <p:cNvSpPr txBox="1"/>
            <p:nvPr/>
          </p:nvSpPr>
          <p:spPr>
            <a:xfrm>
              <a:off x="969264" y="5020056"/>
              <a:ext cx="210312" cy="2560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900" b="0" dirty="0">
                  <a:solidFill>
                    <a:srgbClr val="000000"/>
                  </a:solidFill>
                  <a:latin typeface="Arial"/>
                </a:rPr>
                <a:t>•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98448" y="4979682"/>
              <a:ext cx="9857232" cy="15388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ru-RU" sz="2000" b="1" dirty="0" err="1"/>
                <a:t>Сучасний</a:t>
              </a:r>
              <a:r>
                <a:rPr lang="ru-RU" sz="2000" b="1" dirty="0"/>
                <a:t> </a:t>
              </a:r>
              <a:r>
                <a:rPr lang="ru-RU" sz="2000" b="1" dirty="0" err="1"/>
                <a:t>інтерфейс</a:t>
              </a:r>
              <a:r>
                <a:rPr lang="ru-RU" sz="2000" b="1" dirty="0"/>
                <a:t> та </a:t>
              </a:r>
              <a:r>
                <a:rPr lang="ru-RU" sz="2000" b="1" dirty="0" err="1"/>
                <a:t>інтеграція</a:t>
              </a:r>
              <a:r>
                <a:rPr lang="ru-RU" sz="2000" b="1" dirty="0"/>
                <a:t> </a:t>
              </a:r>
              <a:r>
                <a:rPr lang="ru-RU" sz="2000" b="1" dirty="0" err="1"/>
                <a:t>звітності</a:t>
              </a:r>
              <a:r>
                <a:rPr lang="ru-RU" sz="2000" b="1" dirty="0"/>
                <a:t>:</a:t>
              </a:r>
              <a:r>
                <a:rPr lang="ru-RU" sz="2000" dirty="0"/>
                <a:t> </a:t>
              </a:r>
              <a:r>
                <a:rPr lang="ru-RU" sz="2000" dirty="0" err="1"/>
                <a:t>Розроблено</a:t>
              </a:r>
              <a:r>
                <a:rPr lang="ru-RU" sz="2000" dirty="0"/>
                <a:t> </a:t>
              </a:r>
              <a:r>
                <a:rPr lang="ru-RU" sz="2000" dirty="0" err="1"/>
                <a:t>адаптивний</a:t>
              </a:r>
              <a:r>
                <a:rPr lang="ru-RU" sz="2000" dirty="0"/>
                <a:t> </a:t>
              </a:r>
              <a:r>
                <a:rPr lang="ru-RU" sz="2000" dirty="0" err="1"/>
                <a:t>клієнтський</a:t>
              </a:r>
              <a:r>
                <a:rPr lang="ru-RU" sz="2000" dirty="0"/>
                <a:t> </a:t>
              </a:r>
              <a:r>
                <a:rPr lang="ru-RU" sz="2000" dirty="0" err="1"/>
                <a:t>інтерфейс</a:t>
              </a:r>
              <a:r>
                <a:rPr lang="ru-RU" sz="2000" dirty="0"/>
                <a:t> на </a:t>
              </a:r>
              <a:r>
                <a:rPr lang="ru-RU" sz="2000" dirty="0" err="1"/>
                <a:t>React</a:t>
              </a:r>
              <a:r>
                <a:rPr lang="ru-RU" sz="2000" dirty="0"/>
                <a:t> </a:t>
              </a:r>
              <a:r>
                <a:rPr lang="ru-RU" sz="2000" dirty="0" err="1"/>
                <a:t>із</a:t>
              </a:r>
              <a:r>
                <a:rPr lang="ru-RU" sz="2000" dirty="0"/>
                <a:t> </a:t>
              </a:r>
              <a:r>
                <a:rPr lang="ru-RU" sz="2000" dirty="0" err="1"/>
                <a:t>використанням</a:t>
              </a:r>
              <a:r>
                <a:rPr lang="ru-RU" sz="2000" dirty="0"/>
                <a:t> </a:t>
              </a:r>
              <a:r>
                <a:rPr lang="ru-RU" sz="2000" dirty="0" err="1"/>
                <a:t>Material</a:t>
              </a:r>
              <a:r>
                <a:rPr lang="ru-RU" sz="2000" dirty="0"/>
                <a:t> UI та </a:t>
              </a:r>
              <a:r>
                <a:rPr lang="ru-RU" sz="2000" dirty="0" err="1"/>
                <a:t>Tailwind</a:t>
              </a:r>
              <a:r>
                <a:rPr lang="ru-RU" sz="2000" dirty="0"/>
                <a:t> CSS. </a:t>
              </a:r>
              <a:r>
                <a:rPr lang="ru-RU" sz="2000" dirty="0" err="1"/>
                <a:t>Наступним</a:t>
              </a:r>
              <a:r>
                <a:rPr lang="ru-RU" sz="2000" dirty="0"/>
                <a:t> кроком у </a:t>
              </a:r>
              <a:r>
                <a:rPr lang="ru-RU" sz="2000" dirty="0" err="1"/>
                <a:t>вдосконаленні</a:t>
              </a:r>
              <a:r>
                <a:rPr lang="ru-RU" sz="2000" dirty="0"/>
                <a:t> </a:t>
              </a:r>
              <a:r>
                <a:rPr lang="ru-RU" sz="2000" dirty="0" err="1"/>
                <a:t>інтерфейсної</a:t>
              </a:r>
              <a:r>
                <a:rPr lang="ru-RU" sz="2000" dirty="0"/>
                <a:t> </a:t>
              </a:r>
              <a:r>
                <a:rPr lang="ru-RU" sz="2000" dirty="0" err="1"/>
                <a:t>частини</a:t>
              </a:r>
              <a:r>
                <a:rPr lang="ru-RU" sz="2000" dirty="0"/>
                <a:t> стане </a:t>
              </a:r>
              <a:r>
                <a:rPr lang="ru-RU" sz="2000" dirty="0" err="1"/>
                <a:t>розробка</a:t>
              </a:r>
              <a:r>
                <a:rPr lang="ru-RU" sz="2000" dirty="0"/>
                <a:t> модуля </a:t>
              </a:r>
              <a:r>
                <a:rPr lang="ru-RU" sz="2000" dirty="0" err="1"/>
                <a:t>автоматичної</a:t>
              </a:r>
              <a:r>
                <a:rPr lang="ru-RU" sz="2000" dirty="0"/>
                <a:t> </a:t>
              </a:r>
              <a:r>
                <a:rPr lang="ru-RU" sz="2000" dirty="0" err="1"/>
                <a:t>генерації</a:t>
              </a:r>
              <a:r>
                <a:rPr lang="ru-RU" sz="2000" dirty="0"/>
                <a:t> </a:t>
              </a:r>
              <a:r>
                <a:rPr lang="ru-RU" sz="2000" dirty="0" err="1"/>
                <a:t>офіційних</a:t>
              </a:r>
              <a:r>
                <a:rPr lang="ru-RU" sz="2000" dirty="0"/>
                <a:t> PDF-</a:t>
              </a:r>
              <a:r>
                <a:rPr lang="ru-RU" sz="2000" dirty="0" err="1"/>
                <a:t>звітів</a:t>
              </a:r>
              <a:r>
                <a:rPr lang="ru-RU" sz="2000" dirty="0"/>
                <a:t>, </a:t>
              </a:r>
              <a:r>
                <a:rPr lang="ru-RU" sz="2000" dirty="0" err="1"/>
                <a:t>що</a:t>
              </a:r>
              <a:r>
                <a:rPr lang="ru-RU" sz="2000" dirty="0"/>
                <a:t> дозволить </a:t>
              </a:r>
              <a:r>
                <a:rPr lang="ru-RU" sz="2000" dirty="0" err="1"/>
                <a:t>швидко</a:t>
              </a:r>
              <a:r>
                <a:rPr lang="ru-RU" sz="2000" dirty="0"/>
                <a:t> </a:t>
              </a:r>
              <a:r>
                <a:rPr lang="ru-RU" sz="2000" dirty="0" err="1"/>
                <a:t>роздруковувати</a:t>
              </a:r>
              <a:r>
                <a:rPr lang="ru-RU" sz="2000" dirty="0"/>
                <a:t> </a:t>
              </a:r>
              <a:r>
                <a:rPr lang="ru-RU" sz="2000" dirty="0" err="1"/>
                <a:t>або</a:t>
              </a:r>
              <a:r>
                <a:rPr lang="ru-RU" sz="2000" dirty="0"/>
                <a:t> </a:t>
              </a:r>
              <a:r>
                <a:rPr lang="ru-RU" sz="2000" dirty="0" err="1"/>
                <a:t>експортувати</a:t>
              </a:r>
              <a:r>
                <a:rPr lang="ru-RU" sz="2000" dirty="0"/>
                <a:t> </a:t>
              </a:r>
              <a:r>
                <a:rPr lang="ru-RU" sz="2000" dirty="0" err="1"/>
                <a:t>динаміку</a:t>
              </a:r>
              <a:r>
                <a:rPr lang="ru-RU" sz="2000" dirty="0"/>
                <a:t> </a:t>
              </a:r>
              <a:r>
                <a:rPr lang="ru-RU" sz="2000" dirty="0" err="1"/>
                <a:t>лікування</a:t>
              </a:r>
              <a:r>
                <a:rPr lang="ru-RU" sz="2000" dirty="0"/>
                <a:t> </a:t>
              </a:r>
              <a:r>
                <a:rPr lang="ru-RU" sz="2000" dirty="0" err="1"/>
                <a:t>пацієнта</a:t>
              </a:r>
              <a:r>
                <a:rPr lang="ru-RU" sz="2000" dirty="0"/>
                <a:t> </a:t>
              </a:r>
              <a:r>
                <a:rPr lang="ru-RU" sz="2000" dirty="0" err="1"/>
                <a:t>безпосередньо</a:t>
              </a:r>
              <a:r>
                <a:rPr lang="ru-RU" sz="2000" dirty="0"/>
                <a:t> в </a:t>
              </a:r>
              <a:r>
                <a:rPr lang="ru-RU" sz="2000" dirty="0" err="1"/>
                <a:t>його</a:t>
              </a:r>
              <a:r>
                <a:rPr lang="ru-RU" sz="2000" dirty="0"/>
                <a:t> </a:t>
              </a:r>
              <a:r>
                <a:rPr lang="ru-RU" sz="2000" dirty="0" err="1"/>
                <a:t>паперову</a:t>
              </a:r>
              <a:r>
                <a:rPr lang="ru-RU" sz="2000" dirty="0"/>
                <a:t> </a:t>
              </a:r>
              <a:r>
                <a:rPr lang="ru-RU" sz="2000" dirty="0" err="1"/>
                <a:t>медичну</a:t>
              </a:r>
              <a:r>
                <a:rPr lang="ru-RU" sz="2000" dirty="0"/>
                <a:t> карту. </a:t>
              </a:r>
              <a:endParaRPr sz="1860" b="0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" name="Rectangle 15"/>
          <p:cNvSpPr/>
          <p:nvPr/>
        </p:nvSpPr>
        <p:spPr>
          <a:xfrm>
            <a:off x="407044" y="5658630"/>
            <a:ext cx="10287000" cy="10972"/>
          </a:xfrm>
          <a:prstGeom prst="rect">
            <a:avLst/>
          </a:prstGeom>
          <a:solidFill>
            <a:srgbClr val="CE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3" descr="se_logo_cropped.png">
            <a:extLst>
              <a:ext uri="{FF2B5EF4-FFF2-40B4-BE49-F238E27FC236}">
                <a16:creationId xmlns:a16="http://schemas.microsoft.com/office/drawing/2014/main" id="{420597E4-7A6F-11A7-5C9D-31F830C40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5945942"/>
            <a:ext cx="833511" cy="582874"/>
          </a:xfrm>
          <a:prstGeom prst="rect">
            <a:avLst/>
          </a:prstGeom>
        </p:spPr>
      </p:pic>
      <p:sp>
        <p:nvSpPr>
          <p:cNvPr id="26" name="Oval 4">
            <a:extLst>
              <a:ext uri="{FF2B5EF4-FFF2-40B4-BE49-F238E27FC236}">
                <a16:creationId xmlns:a16="http://schemas.microsoft.com/office/drawing/2014/main" id="{5A1B8B44-FB80-F3B3-A750-DA88D6498DFD}"/>
              </a:ext>
            </a:extLst>
          </p:cNvPr>
          <p:cNvSpPr/>
          <p:nvPr/>
        </p:nvSpPr>
        <p:spPr>
          <a:xfrm>
            <a:off x="11322772" y="6144768"/>
            <a:ext cx="549188" cy="49459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>
                <a:solidFill>
                  <a:srgbClr val="0E3554"/>
                </a:solidFill>
                <a:latin typeface="Arial"/>
              </a:rPr>
              <a:t>1</a:t>
            </a:r>
            <a:r>
              <a:rPr lang="en-US" sz="1200" dirty="0">
                <a:solidFill>
                  <a:srgbClr val="0E3554"/>
                </a:solidFill>
                <a:latin typeface="Arial"/>
              </a:rPr>
              <a:t>4</a:t>
            </a:r>
            <a:endParaRPr sz="1200" dirty="0">
              <a:solidFill>
                <a:srgbClr val="0E3554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1911</TotalTime>
  <Words>2482</Words>
  <Application>Microsoft Office PowerPoint</Application>
  <PresentationFormat>Широкоэкранный</PresentationFormat>
  <Paragraphs>281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Autonexis — презентація захисту v2</dc:title>
  <dc:subject>Кваліфікаційна робота бакалавра</dc:subject>
  <cp:keywords/>
  <dc:description>generated using python-pptx</dc:description>
  <cp:lastModifiedBy>Даниил Билобров</cp:lastModifiedBy>
  <cp:revision>68</cp:revision>
  <dcterms:created xsi:type="dcterms:W3CDTF">2013-01-27T09:14:16Z</dcterms:created>
  <dcterms:modified xsi:type="dcterms:W3CDTF">2026-07-16T10:57:47Z</dcterms:modified>
  <cp:category/>
</cp:coreProperties>
</file>